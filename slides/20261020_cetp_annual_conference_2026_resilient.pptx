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minutes, then a joint 10-minute Q&amp;A with LoCoMoSa. The tech host advances the slides, so say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acronym spells out the scope: infrastructure layouts for the whole energy system (industry, e-fuels, networks) that stay robust when the future turns out differently than planned. German partners are additionally funded by the BMWE.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halves. Research side: TU Berlin (lead, PyPSA-Eur), University of Pisa (SMS++ solver backend), Fraunhofer ISI (industry transformation, FORECAST), Chalmers (biomass and carbon capture), LUT (global e-fuel and material supply chains). Need-owners: TransnetBW (defines uncertainties, leads demonstration studies), EDF (national and European planning), Stockholm Exergi (bioenergy with carbon capture), IN4climate.NRW (industry and state carbon/hydrogen strategies), ABB Finland (associated, e-fuel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take the open sector-coupled model PyPSA-Eur and make it plan under uncertainty: stochastic optimisation with risk measures, a deeper representation of industry (Fraunhofer ISI’s FORECAST), e-fuel conversion, biomass and carbon capture infrastructure, plus decomposition methods (SMS++, University of Pisa) to keep the large stochastic problems solvable. Demonstrated in case studies for France, Germany, Sweden and Finland.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as listed on the project website. Concrete outputs by the end: the extended open-source PyPSA-Eur releases, open datasets (e.g. hydrogen and derivative import options), public training material, and the national case studies. The next slide shows one representative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we build goes upstream into the open-source tools: 124 merged pull requests. Stochastic optimisation and CVaR risk measures shipped with PyPSA v1.0; linopy gained Model.dualize(); PyPSA-Eur now builds its grid from OpenStreetMap and optimises industrial process heat endogenously.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Representative of what RESILIENT does: put a price on security. Tightening the cap on fossil gas barely moves system cost until well past the No-LNG and Autarky marks. Going LNG-free costs about 5 bn€ a year, halving gas use about 16 bn€, under 2 % of system cost. We come back to this curve in the paper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Sector-coupled model of the European energy system: 50 nodes, 3-hourly resolution, weather year 2024, covering power, heat, biomass, industry, transport and agriculture. Investment and dispatch are co-optimised, so gas allocation across sectors emerges from costs rather than being imposed. Right: a year of heat supply and demand in the 2,000 TWh gas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what does it cost Europe to cut its gas imports, and does that actually protect consumers from gas price shocks?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Domestic production plus North African and Azerbaijani pipelines cover about 275 bcm; Europe’s own production alone about 200 bcm. Everything above that is LNG and remaining imports, tying consumer prices to global gas markets.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tighten a cap on fossil gas supply from today’s ~450 bcm down to zero and let the model re-optimise everything. System cost barely moves deep into the phase-out. Between No-LNG and Autarky the difference is minimal; only beyond Autarky do costs climb, by up to ~100 bn€.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today’s 350–450 bcm, gas splits roughly into thirds between power, building heat and industry. As the cap tightens, gas leaves industry heat below 500 °C and bulk power first. Even below 50 bcm, about half of the remaining gas goes to residential heating, because heat-pump economics vary by region. Between 275 and 200 bcm the model builds over 30 bcm of biomethane.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cost-optimal ordering: low-temperature industry heat goes first, then power, where wind and solar displace bulk generation and batteries take over daily balancing; gas stays only as backup for long low-renewable spells. Building heat phases out gradually. High-temperature industry switches to hydrogen only once the biomethane potential is exhausted.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current trends, renewables reach autarky levels between 2030 and 2040, sooner if NECP targets are met. Building heat pumps lag to 2040–2050. Industry has no consistent trend yet; it needs about 75 TWh/a of electrification and biomass for a 2035 target. Without industry electrification, autarky costs about 10 bn€/a more and needs 5–6 million extra electrically heated homes.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external gas price, total system cost traces a parabola; its minimum is where demand would settle in a long-term equilibrium. Demand stays above 275 bcm, still needing LNG, only if prices return to pre-2020 levels of 15–25 €/MWh. Points right of the minimum are a system slow to adapt, i.e. lock-in.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Independence alone does not shield consumers. Two mechanisms: uniform-price auctions, and batteries, whose discharge price is set by the gas turbine they displace. The upper band of each distribution follows the CCGT fuel cost as the gas price rises with scarcity.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short-term shock: capacities fixed, only dispatch re-optimises. Electricity marginal prices pass the gas cost through to all other generators, so the bill roughly doubles relative to gas volume times price (~4 bn€). For comparison: the 16 bn€/a cost of autarky is what consumers pay today for a 2 €/MWh rise in import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RESILIENT application: CO₂ capture, transport, use and storage for industry in North Rhine-Westphalia, with Fraunhofer ISI and IN4climate.NRW. The model decides pipeline routes and sizes itself. Connect the largest emitters first: steel, then refineries and cement. Corridors west towards the Netherlands and Belgium are robust across all scenarios. Onshore storage would more than halve pipeline investment and save around 8 bn€ a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Bobby Xiong’s paper on the EU’s Projects of Common and Mutual Interest for hydrogen and CO₂. Hydrogen pipelines bring cheap green hydrogen from the north and south-west to demand in central Europe; CO₂ pipelines link industrial emitters to offshore storage. Not essential in 2030, but from 2040 they save more than 26 bn€ a year. Delaying them beyond 2040 costs up to 24.2 bn€ a year, and they cut the need for direct air capture by 13 to 136 Mt a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risk enters the model. We optimise one investment plan against several scenarios at once, such as weather years, fuel prices or hydrogen availability, each with its own operation and probability. A risk-neutral planner minimises expected cost. CVaR adds the average cost of the worst 1 − alpha share of outcomes, weighted by omega: omega = 0 is risk-neutral, omega = 1 only cares about the tail. It is linear (an auxiliary excess variable per scenario), so it scales to PyPSA-Eur-sized problems. Two lines of code: set the scenarios, then set the risk preference.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over to the joint Q&amp;A with LoCoMoSa.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0" y="0"/>
            <a:ext cx="12192000" cy="391120"/>
          </a:xfrm>
          <a:prstGeom prst="rect">
            <a:avLst/>
          </a:prstGeom>
          <a:noFill/>
          <a:ln/>
        </p:spPr>
        <p:txBody>
          <a:bodyPr wrap="square" lIns="0" tIns="0" rIns="0" bIns="0" rtlCol="0" anchor="t"/>
          <a:lstStyle>
            <a:lvl1pPr algn="l" indent="0" marL="0">
              <a:lnSpc>
                <a:spcPct val="115000"/>
              </a:lnSpc>
              <a:buNone/>
              <a:defRPr lang="en-US" sz="2800" dirty="0">
                <a:solidFill>
                  <a:srgbClr val="058C98"/>
                </a:solidFill>
                <a:latin typeface="Carlito" pitchFamily="34" charset="0"/>
                <a:ea typeface="Carlito" pitchFamily="34" charset="-122"/>
                <a:cs typeface="Carlito"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0" y="695920"/>
            <a:ext cx="11379200" cy="5349280"/>
          </a:xfrm>
          <a:prstGeom prst="rect">
            <a:avLst/>
          </a:prstGeom>
          <a:noFill/>
          <a:ln/>
        </p:spPr>
        <p:txBody>
          <a:bodyPr wrap="square" lIns="0" tIns="0" rIns="0" bIns="0" rtlCol="0" anchor="t"/>
          <a:lstStyle>
            <a:lvl1pPr algn="l" indent="0" marL="0">
              <a:lnSpc>
                <a:spcPct val="140000"/>
              </a:lnSpc>
              <a:buNone/>
              <a:defRPr lang="en-US" sz="1600" dirty="0">
                <a:solidFill>
                  <a:srgbClr val="141413"/>
                </a:solidFill>
                <a:latin typeface="Carlito" pitchFamily="34" charset="0"/>
                <a:ea typeface="Carlito" pitchFamily="34" charset="-122"/>
                <a:cs typeface="Carlit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0" y="0"/>
            <a:ext cx="12192000" cy="391120"/>
          </a:xfrm>
          <a:prstGeom prst="rect">
            <a:avLst/>
          </a:prstGeom>
          <a:noFill/>
          <a:ln/>
        </p:spPr>
        <p:txBody>
          <a:bodyPr wrap="square" lIns="0" tIns="0" rIns="0" bIns="0" rtlCol="0" anchor="t"/>
          <a:lstStyle>
            <a:lvl1pPr algn="l" indent="0" marL="0">
              <a:lnSpc>
                <a:spcPct val="115000"/>
              </a:lnSpc>
              <a:buNone/>
              <a:defRPr lang="en-US" sz="2800" dirty="0">
                <a:solidFill>
                  <a:srgbClr val="058C98"/>
                </a:solidFill>
                <a:latin typeface="Carlito" pitchFamily="34" charset="0"/>
                <a:ea typeface="Carlito" pitchFamily="34" charset="-122"/>
                <a:cs typeface="Carlito"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0" y="695920"/>
            <a:ext cx="11379200" cy="5349280"/>
          </a:xfrm>
          <a:prstGeom prst="rect">
            <a:avLst/>
          </a:prstGeom>
          <a:noFill/>
          <a:ln/>
        </p:spPr>
        <p:txBody>
          <a:bodyPr wrap="square" lIns="0" tIns="0" rIns="0" bIns="0" rtlCol="0" anchor="t"/>
          <a:lstStyle>
            <a:lvl1pPr algn="l" indent="0" marL="0">
              <a:lnSpc>
                <a:spcPct val="140000"/>
              </a:lnSpc>
              <a:buNone/>
              <a:defRPr lang="en-US" sz="1600" dirty="0">
                <a:solidFill>
                  <a:srgbClr val="141413"/>
                </a:solidFill>
                <a:latin typeface="Carlito" pitchFamily="34" charset="0"/>
                <a:ea typeface="Carlito" pitchFamily="34" charset="-122"/>
                <a:cs typeface="Carlit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2.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2.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2" Type="http://schemas.openxmlformats.org/officeDocument/2006/relationships/hyperlink" Target="https://resilient-project.github.io/" TargetMode="External"/><Relationship Id="rId1" Type="http://schemas.openxmlformats.org/officeDocument/2006/relationships/image" Target="../media/image-21-1.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8C9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ph type="title"/>
          </p:nvPr>
        </p:nvSpPr>
        <p:spPr>
          <a:xfrm>
            <a:off x="838200" y="952500"/>
            <a:ext cx="5624830" cy="919460"/>
          </a:xfrm>
          <a:prstGeom prst="rect">
            <a:avLst/>
          </a:prstGeom>
          <a:noFill/>
          <a:ln/>
        </p:spPr>
        <p:txBody>
          <a:bodyPr wrap="square" lIns="0" tIns="0" rIns="0" bIns="0" rtlCol="0" anchor="t">
            <a:normAutofit/>
          </a:bodyPr>
          <a:lstStyle/>
          <a:p>
            <a:pPr algn="l" indent="0" marL="0">
              <a:lnSpc>
                <a:spcPts val="7040"/>
              </a:lnSpc>
              <a:buNone/>
            </a:pPr>
            <a:r>
              <a:rPr lang="en-US" sz="6400" b="1" i="0" spc="200" kern="0" dirty="0">
                <a:solidFill>
                  <a:srgbClr val="FFFFFF"/>
                </a:solidFill>
                <a:latin typeface="Carlito" pitchFamily="34" charset="0"/>
                <a:ea typeface="Carlito" pitchFamily="34" charset="-122"/>
                <a:cs typeface="Carlito" pitchFamily="34" charset="-120"/>
              </a:rPr>
              <a:t>RESILIENT</a:t>
            </a:r>
            <a:endParaRPr lang="en-US" sz="6400" dirty="0"/>
          </a:p>
        </p:txBody>
      </p:sp>
      <p:sp>
        <p:nvSpPr>
          <p:cNvPr id="4" name="Text 1"/>
          <p:cNvSpPr/>
          <p:nvPr/>
        </p:nvSpPr>
        <p:spPr>
          <a:xfrm>
            <a:off x="838200" y="1981200"/>
            <a:ext cx="5624830"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FFFFF"/>
                </a:solidFill>
                <a:latin typeface="Carlito" pitchFamily="34" charset="0"/>
                <a:ea typeface="Carlito" pitchFamily="34" charset="-122"/>
                <a:cs typeface="Carlito" pitchFamily="34" charset="-120"/>
              </a:rPr>
              <a:t>Resilient Energy System Infrastructure Layouts for Industry, E-Fuels and Network Transitions</a:t>
            </a:r>
            <a:endParaRPr lang="en-US" sz="1600" dirty="0"/>
          </a:p>
        </p:txBody>
      </p:sp>
      <p:sp>
        <p:nvSpPr>
          <p:cNvPr id="5" name="Shape 2"/>
          <p:cNvSpPr/>
          <p:nvPr/>
        </p:nvSpPr>
        <p:spPr>
          <a:xfrm>
            <a:off x="901700" y="2857500"/>
            <a:ext cx="2032000" cy="2032000"/>
          </a:xfrm>
          <a:prstGeom prst="roundRect">
            <a:avLst>
              <a:gd name="adj" fmla="val 50000"/>
            </a:avLst>
          </a:prstGeom>
          <a:solidFill>
            <a:srgbClr val="FFFFFF"/>
          </a:solidFill>
          <a:ln/>
        </p:spPr>
      </p:sp>
      <p:pic>
        <p:nvPicPr>
          <p:cNvPr id="6" name="Image 1" descr="RESILIENT project logo">    </p:cNvPr>
          <p:cNvPicPr>
            <a:picLocks noChangeAspect="1"/>
          </p:cNvPicPr>
          <p:nvPr/>
        </p:nvPicPr>
        <p:blipFill>
          <a:blip r:embed="rId2"/>
          <a:srcRect l="0" r="0" t="0" b="0"/>
          <a:stretch/>
        </p:blipFill>
        <p:spPr>
          <a:xfrm>
            <a:off x="1282700" y="3302000"/>
            <a:ext cx="1270000" cy="1143000"/>
          </a:xfrm>
          <a:prstGeom prst="rect">
            <a:avLst/>
          </a:prstGeom>
        </p:spPr>
      </p:pic>
      <p:sp>
        <p:nvSpPr>
          <p:cNvPr id="7" name="Text 3"/>
          <p:cNvSpPr/>
          <p:nvPr/>
        </p:nvSpPr>
        <p:spPr>
          <a:xfrm>
            <a:off x="838200" y="5080000"/>
            <a:ext cx="5624830" cy="345380"/>
          </a:xfrm>
          <a:prstGeom prst="rect">
            <a:avLst/>
          </a:prstGeom>
          <a:noFill/>
          <a:ln/>
        </p:spPr>
        <p:txBody>
          <a:bodyPr wrap="square" lIns="0" tIns="0" rIns="0" bIns="0" rtlCol="0" anchor="t">
            <a:normAutofit/>
          </a:bodyPr>
          <a:lstStyle/>
          <a:p>
            <a:pPr algn="l" indent="0" marL="0">
              <a:lnSpc>
                <a:spcPts val="2520"/>
              </a:lnSpc>
              <a:buNone/>
            </a:pPr>
            <a:r>
              <a:rPr lang="en-US" sz="1800" b="1" i="1" dirty="0">
                <a:solidFill>
                  <a:srgbClr val="FFFFFF"/>
                </a:solidFill>
                <a:latin typeface="Carlito" pitchFamily="34" charset="0"/>
                <a:ea typeface="Carlito" pitchFamily="34" charset="-122"/>
                <a:cs typeface="Carlito" pitchFamily="34" charset="-120"/>
              </a:rPr>
              <a:t>Dr Lukas Franken, TU Berlin, Germany</a:t>
            </a:r>
            <a:endParaRPr lang="en-US" sz="1800" dirty="0"/>
          </a:p>
        </p:txBody>
      </p:sp>
      <p:sp>
        <p:nvSpPr>
          <p:cNvPr id="8" name="Text 4"/>
          <p:cNvSpPr/>
          <p:nvPr/>
        </p:nvSpPr>
        <p:spPr>
          <a:xfrm>
            <a:off x="838200" y="5435600"/>
            <a:ext cx="562483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Carlito" pitchFamily="34" charset="0"/>
                <a:ea typeface="Carlito" pitchFamily="34" charset="-122"/>
                <a:cs typeface="Carlito" pitchFamily="34" charset="-120"/>
              </a:rPr>
              <a:t>CETPartnership Annual Conference · Innovations in Action · 20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ph type="title"/>
          </p:nvPr>
        </p:nvSpPr>
        <p:spPr>
          <a:xfrm>
            <a:off x="0" y="0"/>
            <a:ext cx="12557760"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058C98"/>
                </a:solidFill>
                <a:latin typeface="Carlito" pitchFamily="34" charset="0"/>
                <a:ea typeface="Carlito" pitchFamily="34" charset="-122"/>
                <a:cs typeface="Carlito" pitchFamily="34" charset="-120"/>
              </a:rPr>
              <a:t>Introducing our Project</a:t>
            </a:r>
            <a:endParaRPr lang="en-US" sz="2800" dirty="0"/>
          </a:p>
        </p:txBody>
      </p:sp>
      <p:sp>
        <p:nvSpPr>
          <p:cNvPr id="4" name="Text 1"/>
          <p:cNvSpPr/>
          <p:nvPr/>
        </p:nvSpPr>
        <p:spPr>
          <a:xfrm>
            <a:off x="2413000" y="2098377"/>
            <a:ext cx="3662680" cy="375841"/>
          </a:xfrm>
          <a:prstGeom prst="rect">
            <a:avLst/>
          </a:prstGeom>
          <a:noFill/>
          <a:ln/>
        </p:spPr>
        <p:txBody>
          <a:bodyPr wrap="square" lIns="0" tIns="0" rIns="0" bIns="0" rtlCol="0" anchor="t">
            <a:normAutofit/>
          </a:bodyPr>
          <a:lstStyle/>
          <a:p>
            <a:pPr algn="l" indent="0" marL="0">
              <a:lnSpc>
                <a:spcPts val="2760"/>
              </a:lnSpc>
              <a:buNone/>
            </a:pPr>
            <a:r>
              <a:rPr lang="en-US" sz="2300" b="1" dirty="0">
                <a:solidFill>
                  <a:srgbClr val="058C98"/>
                </a:solidFill>
                <a:latin typeface="Carlito" pitchFamily="34" charset="0"/>
                <a:ea typeface="Carlito" pitchFamily="34" charset="-122"/>
                <a:cs typeface="Carlito" pitchFamily="34" charset="-120"/>
              </a:rPr>
              <a:t>R</a:t>
            </a:r>
            <a:r>
              <a:rPr lang="en-US" sz="2300" dirty="0">
                <a:solidFill>
                  <a:srgbClr val="1A1A1A"/>
                </a:solidFill>
                <a:latin typeface="Carlito" pitchFamily="34" charset="0"/>
                <a:ea typeface="Carlito" pitchFamily="34" charset="-122"/>
                <a:cs typeface="Carlito" pitchFamily="34" charset="-120"/>
              </a:rPr>
              <a:t>esilient</a:t>
            </a:r>
            <a:endParaRPr lang="en-US" sz="2300" dirty="0"/>
          </a:p>
        </p:txBody>
      </p:sp>
      <p:sp>
        <p:nvSpPr>
          <p:cNvPr id="5" name="Text 2"/>
          <p:cNvSpPr/>
          <p:nvPr/>
        </p:nvSpPr>
        <p:spPr>
          <a:xfrm>
            <a:off x="2413000" y="2448818"/>
            <a:ext cx="3662680" cy="375841"/>
          </a:xfrm>
          <a:prstGeom prst="rect">
            <a:avLst/>
          </a:prstGeom>
          <a:noFill/>
          <a:ln/>
        </p:spPr>
        <p:txBody>
          <a:bodyPr wrap="square" lIns="0" tIns="0" rIns="0" bIns="0" rtlCol="0" anchor="t">
            <a:normAutofit/>
          </a:bodyPr>
          <a:lstStyle/>
          <a:p>
            <a:pPr algn="l" indent="0" marL="0">
              <a:lnSpc>
                <a:spcPts val="2760"/>
              </a:lnSpc>
              <a:buNone/>
            </a:pPr>
            <a:r>
              <a:rPr lang="en-US" sz="2300" b="1" dirty="0">
                <a:solidFill>
                  <a:srgbClr val="058C98"/>
                </a:solidFill>
                <a:latin typeface="Carlito" pitchFamily="34" charset="0"/>
                <a:ea typeface="Carlito" pitchFamily="34" charset="-122"/>
                <a:cs typeface="Carlito" pitchFamily="34" charset="-120"/>
              </a:rPr>
              <a:t>E</a:t>
            </a:r>
            <a:r>
              <a:rPr lang="en-US" sz="2300" dirty="0">
                <a:solidFill>
                  <a:srgbClr val="1A1A1A"/>
                </a:solidFill>
                <a:latin typeface="Carlito" pitchFamily="34" charset="0"/>
                <a:ea typeface="Carlito" pitchFamily="34" charset="-122"/>
                <a:cs typeface="Carlito" pitchFamily="34" charset="-120"/>
              </a:rPr>
              <a:t>nergy</a:t>
            </a:r>
            <a:endParaRPr lang="en-US" sz="2300" dirty="0"/>
          </a:p>
        </p:txBody>
      </p:sp>
      <p:sp>
        <p:nvSpPr>
          <p:cNvPr id="6" name="Text 3"/>
          <p:cNvSpPr/>
          <p:nvPr/>
        </p:nvSpPr>
        <p:spPr>
          <a:xfrm>
            <a:off x="2413000" y="2799259"/>
            <a:ext cx="3662680" cy="375841"/>
          </a:xfrm>
          <a:prstGeom prst="rect">
            <a:avLst/>
          </a:prstGeom>
          <a:noFill/>
          <a:ln/>
        </p:spPr>
        <p:txBody>
          <a:bodyPr wrap="square" lIns="0" tIns="0" rIns="0" bIns="0" rtlCol="0" anchor="t">
            <a:normAutofit/>
          </a:bodyPr>
          <a:lstStyle/>
          <a:p>
            <a:pPr algn="l" indent="0" marL="0">
              <a:lnSpc>
                <a:spcPts val="2760"/>
              </a:lnSpc>
              <a:buNone/>
            </a:pPr>
            <a:r>
              <a:rPr lang="en-US" sz="2300" b="1" dirty="0">
                <a:solidFill>
                  <a:srgbClr val="058C98"/>
                </a:solidFill>
                <a:latin typeface="Carlito" pitchFamily="34" charset="0"/>
                <a:ea typeface="Carlito" pitchFamily="34" charset="-122"/>
                <a:cs typeface="Carlito" pitchFamily="34" charset="-120"/>
              </a:rPr>
              <a:t>S</a:t>
            </a:r>
            <a:r>
              <a:rPr lang="en-US" sz="2300" dirty="0">
                <a:solidFill>
                  <a:srgbClr val="1A1A1A"/>
                </a:solidFill>
                <a:latin typeface="Carlito" pitchFamily="34" charset="0"/>
                <a:ea typeface="Carlito" pitchFamily="34" charset="-122"/>
                <a:cs typeface="Carlito" pitchFamily="34" charset="-120"/>
              </a:rPr>
              <a:t>ystem</a:t>
            </a:r>
            <a:endParaRPr lang="en-US" sz="2300" dirty="0"/>
          </a:p>
        </p:txBody>
      </p:sp>
      <p:sp>
        <p:nvSpPr>
          <p:cNvPr id="7" name="Text 4"/>
          <p:cNvSpPr/>
          <p:nvPr/>
        </p:nvSpPr>
        <p:spPr>
          <a:xfrm>
            <a:off x="2413000" y="3149699"/>
            <a:ext cx="3662680" cy="375841"/>
          </a:xfrm>
          <a:prstGeom prst="rect">
            <a:avLst/>
          </a:prstGeom>
          <a:noFill/>
          <a:ln/>
        </p:spPr>
        <p:txBody>
          <a:bodyPr wrap="square" lIns="0" tIns="0" rIns="0" bIns="0" rtlCol="0" anchor="t">
            <a:normAutofit/>
          </a:bodyPr>
          <a:lstStyle/>
          <a:p>
            <a:pPr algn="l" indent="0" marL="0">
              <a:lnSpc>
                <a:spcPts val="2760"/>
              </a:lnSpc>
              <a:buNone/>
            </a:pPr>
            <a:r>
              <a:rPr lang="en-US" sz="2300" b="1" dirty="0">
                <a:solidFill>
                  <a:srgbClr val="058C98"/>
                </a:solidFill>
                <a:latin typeface="Carlito" pitchFamily="34" charset="0"/>
                <a:ea typeface="Carlito" pitchFamily="34" charset="-122"/>
                <a:cs typeface="Carlito" pitchFamily="34" charset="-120"/>
              </a:rPr>
              <a:t>I</a:t>
            </a:r>
            <a:r>
              <a:rPr lang="en-US" sz="2300" dirty="0">
                <a:solidFill>
                  <a:srgbClr val="1A1A1A"/>
                </a:solidFill>
                <a:latin typeface="Carlito" pitchFamily="34" charset="0"/>
                <a:ea typeface="Carlito" pitchFamily="34" charset="-122"/>
                <a:cs typeface="Carlito" pitchFamily="34" charset="-120"/>
              </a:rPr>
              <a:t>nfrastructure</a:t>
            </a:r>
            <a:endParaRPr lang="en-US" sz="2300" dirty="0"/>
          </a:p>
        </p:txBody>
      </p:sp>
      <p:sp>
        <p:nvSpPr>
          <p:cNvPr id="8" name="Text 5"/>
          <p:cNvSpPr/>
          <p:nvPr/>
        </p:nvSpPr>
        <p:spPr>
          <a:xfrm>
            <a:off x="2413000" y="3500140"/>
            <a:ext cx="3662680" cy="375841"/>
          </a:xfrm>
          <a:prstGeom prst="rect">
            <a:avLst/>
          </a:prstGeom>
          <a:noFill/>
          <a:ln/>
        </p:spPr>
        <p:txBody>
          <a:bodyPr wrap="square" lIns="0" tIns="0" rIns="0" bIns="0" rtlCol="0" anchor="t">
            <a:normAutofit/>
          </a:bodyPr>
          <a:lstStyle/>
          <a:p>
            <a:pPr algn="l" indent="0" marL="0">
              <a:lnSpc>
                <a:spcPts val="2760"/>
              </a:lnSpc>
              <a:buNone/>
            </a:pPr>
            <a:r>
              <a:rPr lang="en-US" sz="2300" b="1" dirty="0">
                <a:solidFill>
                  <a:srgbClr val="058C98"/>
                </a:solidFill>
                <a:latin typeface="Carlito" pitchFamily="34" charset="0"/>
                <a:ea typeface="Carlito" pitchFamily="34" charset="-122"/>
                <a:cs typeface="Carlito" pitchFamily="34" charset="-120"/>
              </a:rPr>
              <a:t>L</a:t>
            </a:r>
            <a:r>
              <a:rPr lang="en-US" sz="2300" dirty="0">
                <a:solidFill>
                  <a:srgbClr val="1A1A1A"/>
                </a:solidFill>
                <a:latin typeface="Carlito" pitchFamily="34" charset="0"/>
                <a:ea typeface="Carlito" pitchFamily="34" charset="-122"/>
                <a:cs typeface="Carlito" pitchFamily="34" charset="-120"/>
              </a:rPr>
              <a:t>ayouts for</a:t>
            </a:r>
            <a:endParaRPr lang="en-US" sz="2300" dirty="0"/>
          </a:p>
        </p:txBody>
      </p:sp>
      <p:sp>
        <p:nvSpPr>
          <p:cNvPr id="9" name="Text 6"/>
          <p:cNvSpPr/>
          <p:nvPr/>
        </p:nvSpPr>
        <p:spPr>
          <a:xfrm>
            <a:off x="2413000" y="3850580"/>
            <a:ext cx="3662680" cy="375841"/>
          </a:xfrm>
          <a:prstGeom prst="rect">
            <a:avLst/>
          </a:prstGeom>
          <a:noFill/>
          <a:ln/>
        </p:spPr>
        <p:txBody>
          <a:bodyPr wrap="square" lIns="0" tIns="0" rIns="0" bIns="0" rtlCol="0" anchor="t">
            <a:normAutofit/>
          </a:bodyPr>
          <a:lstStyle/>
          <a:p>
            <a:pPr algn="l" indent="0" marL="0">
              <a:lnSpc>
                <a:spcPts val="2760"/>
              </a:lnSpc>
              <a:buNone/>
            </a:pPr>
            <a:r>
              <a:rPr lang="en-US" sz="2300" b="1" dirty="0">
                <a:solidFill>
                  <a:srgbClr val="058C98"/>
                </a:solidFill>
                <a:latin typeface="Carlito" pitchFamily="34" charset="0"/>
                <a:ea typeface="Carlito" pitchFamily="34" charset="-122"/>
                <a:cs typeface="Carlito" pitchFamily="34" charset="-120"/>
              </a:rPr>
              <a:t>I</a:t>
            </a:r>
            <a:r>
              <a:rPr lang="en-US" sz="2300" dirty="0">
                <a:solidFill>
                  <a:srgbClr val="1A1A1A"/>
                </a:solidFill>
                <a:latin typeface="Carlito" pitchFamily="34" charset="0"/>
                <a:ea typeface="Carlito" pitchFamily="34" charset="-122"/>
                <a:cs typeface="Carlito" pitchFamily="34" charset="-120"/>
              </a:rPr>
              <a:t>ndustry,</a:t>
            </a:r>
            <a:endParaRPr lang="en-US" sz="2300" dirty="0"/>
          </a:p>
        </p:txBody>
      </p:sp>
      <p:sp>
        <p:nvSpPr>
          <p:cNvPr id="10" name="Text 7"/>
          <p:cNvSpPr/>
          <p:nvPr/>
        </p:nvSpPr>
        <p:spPr>
          <a:xfrm>
            <a:off x="2413000" y="4201021"/>
            <a:ext cx="3662680" cy="375841"/>
          </a:xfrm>
          <a:prstGeom prst="rect">
            <a:avLst/>
          </a:prstGeom>
          <a:noFill/>
          <a:ln/>
        </p:spPr>
        <p:txBody>
          <a:bodyPr wrap="square" lIns="0" tIns="0" rIns="0" bIns="0" rtlCol="0" anchor="t">
            <a:normAutofit/>
          </a:bodyPr>
          <a:lstStyle/>
          <a:p>
            <a:pPr algn="l" indent="0" marL="0">
              <a:lnSpc>
                <a:spcPts val="2760"/>
              </a:lnSpc>
              <a:buNone/>
            </a:pPr>
            <a:r>
              <a:rPr lang="en-US" sz="2300" b="1" dirty="0">
                <a:solidFill>
                  <a:srgbClr val="058C98"/>
                </a:solidFill>
                <a:latin typeface="Carlito" pitchFamily="34" charset="0"/>
                <a:ea typeface="Carlito" pitchFamily="34" charset="-122"/>
                <a:cs typeface="Carlito" pitchFamily="34" charset="-120"/>
              </a:rPr>
              <a:t>E</a:t>
            </a:r>
            <a:r>
              <a:rPr lang="en-US" sz="2300" dirty="0">
                <a:solidFill>
                  <a:srgbClr val="1A1A1A"/>
                </a:solidFill>
                <a:latin typeface="Carlito" pitchFamily="34" charset="0"/>
                <a:ea typeface="Carlito" pitchFamily="34" charset="-122"/>
                <a:cs typeface="Carlito" pitchFamily="34" charset="-120"/>
              </a:rPr>
              <a:t>-Fuels and</a:t>
            </a:r>
            <a:endParaRPr lang="en-US" sz="2300" dirty="0"/>
          </a:p>
        </p:txBody>
      </p:sp>
      <p:sp>
        <p:nvSpPr>
          <p:cNvPr id="11" name="Text 8"/>
          <p:cNvSpPr/>
          <p:nvPr/>
        </p:nvSpPr>
        <p:spPr>
          <a:xfrm>
            <a:off x="2413000" y="4551462"/>
            <a:ext cx="3662680" cy="375841"/>
          </a:xfrm>
          <a:prstGeom prst="rect">
            <a:avLst/>
          </a:prstGeom>
          <a:noFill/>
          <a:ln/>
        </p:spPr>
        <p:txBody>
          <a:bodyPr wrap="square" lIns="0" tIns="0" rIns="0" bIns="0" rtlCol="0" anchor="t">
            <a:normAutofit/>
          </a:bodyPr>
          <a:lstStyle/>
          <a:p>
            <a:pPr algn="l" indent="0" marL="0">
              <a:lnSpc>
                <a:spcPts val="2760"/>
              </a:lnSpc>
              <a:buNone/>
            </a:pPr>
            <a:r>
              <a:rPr lang="en-US" sz="2300" b="1" dirty="0">
                <a:solidFill>
                  <a:srgbClr val="058C98"/>
                </a:solidFill>
                <a:latin typeface="Carlito" pitchFamily="34" charset="0"/>
                <a:ea typeface="Carlito" pitchFamily="34" charset="-122"/>
                <a:cs typeface="Carlito" pitchFamily="34" charset="-120"/>
              </a:rPr>
              <a:t>N</a:t>
            </a:r>
            <a:r>
              <a:rPr lang="en-US" sz="2300" dirty="0">
                <a:solidFill>
                  <a:srgbClr val="1A1A1A"/>
                </a:solidFill>
                <a:latin typeface="Carlito" pitchFamily="34" charset="0"/>
                <a:ea typeface="Carlito" pitchFamily="34" charset="-122"/>
                <a:cs typeface="Carlito" pitchFamily="34" charset="-120"/>
              </a:rPr>
              <a:t>etwork</a:t>
            </a:r>
            <a:endParaRPr lang="en-US" sz="2300" dirty="0"/>
          </a:p>
        </p:txBody>
      </p:sp>
      <p:sp>
        <p:nvSpPr>
          <p:cNvPr id="12" name="Text 9"/>
          <p:cNvSpPr/>
          <p:nvPr/>
        </p:nvSpPr>
        <p:spPr>
          <a:xfrm>
            <a:off x="2413000" y="4901902"/>
            <a:ext cx="3662680" cy="375841"/>
          </a:xfrm>
          <a:prstGeom prst="rect">
            <a:avLst/>
          </a:prstGeom>
          <a:noFill/>
          <a:ln/>
        </p:spPr>
        <p:txBody>
          <a:bodyPr wrap="square" lIns="0" tIns="0" rIns="0" bIns="0" rtlCol="0" anchor="t">
            <a:normAutofit/>
          </a:bodyPr>
          <a:lstStyle/>
          <a:p>
            <a:pPr algn="l" indent="0" marL="0">
              <a:lnSpc>
                <a:spcPts val="2760"/>
              </a:lnSpc>
              <a:buNone/>
            </a:pPr>
            <a:r>
              <a:rPr lang="en-US" sz="2300" b="1" dirty="0">
                <a:solidFill>
                  <a:srgbClr val="058C98"/>
                </a:solidFill>
                <a:latin typeface="Carlito" pitchFamily="34" charset="0"/>
                <a:ea typeface="Carlito" pitchFamily="34" charset="-122"/>
                <a:cs typeface="Carlito" pitchFamily="34" charset="-120"/>
              </a:rPr>
              <a:t>T</a:t>
            </a:r>
            <a:r>
              <a:rPr lang="en-US" sz="2300" dirty="0">
                <a:solidFill>
                  <a:srgbClr val="1A1A1A"/>
                </a:solidFill>
                <a:latin typeface="Carlito" pitchFamily="34" charset="0"/>
                <a:ea typeface="Carlito" pitchFamily="34" charset="-122"/>
                <a:cs typeface="Carlito" pitchFamily="34" charset="-120"/>
              </a:rPr>
              <a:t>ransitions</a:t>
            </a:r>
            <a:endParaRPr lang="en-US" sz="2300" dirty="0"/>
          </a:p>
        </p:txBody>
      </p:sp>
      <p:sp>
        <p:nvSpPr>
          <p:cNvPr id="13" name="Text 10"/>
          <p:cNvSpPr/>
          <p:nvPr/>
        </p:nvSpPr>
        <p:spPr>
          <a:xfrm>
            <a:off x="6731000" y="1986558"/>
            <a:ext cx="313944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58C98"/>
                </a:solidFill>
                <a:latin typeface="Carlito" pitchFamily="34" charset="0"/>
                <a:ea typeface="Carlito" pitchFamily="34" charset="-122"/>
                <a:cs typeface="Carlito" pitchFamily="34" charset="-120"/>
              </a:rPr>
              <a:t>FUNDING</a:t>
            </a:r>
            <a:endParaRPr lang="en-US" sz="1200" dirty="0"/>
          </a:p>
        </p:txBody>
      </p:sp>
      <p:sp>
        <p:nvSpPr>
          <p:cNvPr id="14" name="Text 11"/>
          <p:cNvSpPr/>
          <p:nvPr/>
        </p:nvSpPr>
        <p:spPr>
          <a:xfrm>
            <a:off x="6731000" y="2225278"/>
            <a:ext cx="3139440" cy="299641"/>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1A1A1A"/>
                </a:solidFill>
                <a:latin typeface="Carlito" pitchFamily="34" charset="0"/>
                <a:ea typeface="Carlito" pitchFamily="34" charset="-122"/>
                <a:cs typeface="Carlito" pitchFamily="34" charset="-120"/>
              </a:rPr>
              <a:t>CETPartnership 2022 call</a:t>
            </a:r>
            <a:endParaRPr lang="en-US" sz="1800" dirty="0"/>
          </a:p>
        </p:txBody>
      </p:sp>
      <p:sp>
        <p:nvSpPr>
          <p:cNvPr id="15" name="Text 12"/>
          <p:cNvSpPr/>
          <p:nvPr/>
        </p:nvSpPr>
        <p:spPr>
          <a:xfrm>
            <a:off x="6731000" y="2702719"/>
            <a:ext cx="313944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58C98"/>
                </a:solidFill>
                <a:latin typeface="Carlito" pitchFamily="34" charset="0"/>
                <a:ea typeface="Carlito" pitchFamily="34" charset="-122"/>
                <a:cs typeface="Carlito" pitchFamily="34" charset="-120"/>
              </a:rPr>
              <a:t>COORDINATOR</a:t>
            </a:r>
            <a:endParaRPr lang="en-US" sz="1200" dirty="0"/>
          </a:p>
        </p:txBody>
      </p:sp>
      <p:sp>
        <p:nvSpPr>
          <p:cNvPr id="16" name="Text 13"/>
          <p:cNvSpPr/>
          <p:nvPr/>
        </p:nvSpPr>
        <p:spPr>
          <a:xfrm>
            <a:off x="6731000" y="2941439"/>
            <a:ext cx="3139440" cy="299641"/>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1A1A1A"/>
                </a:solidFill>
                <a:latin typeface="Carlito" pitchFamily="34" charset="0"/>
                <a:ea typeface="Carlito" pitchFamily="34" charset="-122"/>
                <a:cs typeface="Carlito" pitchFamily="34" charset="-120"/>
              </a:rPr>
              <a:t>TU Berlin, ENSYS</a:t>
            </a:r>
            <a:endParaRPr lang="en-US" sz="1800" dirty="0"/>
          </a:p>
        </p:txBody>
      </p:sp>
      <p:sp>
        <p:nvSpPr>
          <p:cNvPr id="17" name="Text 14"/>
          <p:cNvSpPr/>
          <p:nvPr/>
        </p:nvSpPr>
        <p:spPr>
          <a:xfrm>
            <a:off x="6731000" y="3418880"/>
            <a:ext cx="313944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58C98"/>
                </a:solidFill>
                <a:latin typeface="Carlito" pitchFamily="34" charset="0"/>
                <a:ea typeface="Carlito" pitchFamily="34" charset="-122"/>
                <a:cs typeface="Carlito" pitchFamily="34" charset="-120"/>
              </a:rPr>
              <a:t>KICK-OFF</a:t>
            </a:r>
            <a:endParaRPr lang="en-US" sz="1200" dirty="0"/>
          </a:p>
        </p:txBody>
      </p:sp>
      <p:sp>
        <p:nvSpPr>
          <p:cNvPr id="18" name="Text 15"/>
          <p:cNvSpPr/>
          <p:nvPr/>
        </p:nvSpPr>
        <p:spPr>
          <a:xfrm>
            <a:off x="6731000" y="3657600"/>
            <a:ext cx="3139440" cy="299641"/>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1A1A1A"/>
                </a:solidFill>
                <a:latin typeface="Carlito" pitchFamily="34" charset="0"/>
                <a:ea typeface="Carlito" pitchFamily="34" charset="-122"/>
                <a:cs typeface="Carlito" pitchFamily="34" charset="-120"/>
              </a:rPr>
              <a:t>February 2024, Berlin</a:t>
            </a:r>
            <a:endParaRPr lang="en-US" sz="1800" dirty="0"/>
          </a:p>
        </p:txBody>
      </p:sp>
      <p:sp>
        <p:nvSpPr>
          <p:cNvPr id="19" name="Text 16"/>
          <p:cNvSpPr/>
          <p:nvPr/>
        </p:nvSpPr>
        <p:spPr>
          <a:xfrm>
            <a:off x="6731000" y="4135041"/>
            <a:ext cx="313944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58C98"/>
                </a:solidFill>
                <a:latin typeface="Carlito" pitchFamily="34" charset="0"/>
                <a:ea typeface="Carlito" pitchFamily="34" charset="-122"/>
                <a:cs typeface="Carlito" pitchFamily="34" charset="-120"/>
              </a:rPr>
              <a:t>FINAL WORKSHOP</a:t>
            </a:r>
            <a:endParaRPr lang="en-US" sz="1200" dirty="0"/>
          </a:p>
        </p:txBody>
      </p:sp>
      <p:sp>
        <p:nvSpPr>
          <p:cNvPr id="20" name="Text 17"/>
          <p:cNvSpPr/>
          <p:nvPr/>
        </p:nvSpPr>
        <p:spPr>
          <a:xfrm>
            <a:off x="6731000" y="4373761"/>
            <a:ext cx="3139440" cy="299641"/>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1A1A1A"/>
                </a:solidFill>
                <a:latin typeface="Carlito" pitchFamily="34" charset="0"/>
                <a:ea typeface="Carlito" pitchFamily="34" charset="-122"/>
                <a:cs typeface="Carlito" pitchFamily="34" charset="-120"/>
              </a:rPr>
              <a:t>20 November 2026, Berlin</a:t>
            </a:r>
            <a:endParaRPr lang="en-US" sz="1800" dirty="0"/>
          </a:p>
        </p:txBody>
      </p:sp>
      <p:sp>
        <p:nvSpPr>
          <p:cNvPr id="21" name="Text 18"/>
          <p:cNvSpPr/>
          <p:nvPr/>
        </p:nvSpPr>
        <p:spPr>
          <a:xfrm>
            <a:off x="6731000" y="4851202"/>
            <a:ext cx="313944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58C98"/>
                </a:solidFill>
                <a:latin typeface="Carlito" pitchFamily="34" charset="0"/>
                <a:ea typeface="Carlito" pitchFamily="34" charset="-122"/>
                <a:cs typeface="Carlito" pitchFamily="34" charset="-120"/>
              </a:rPr>
              <a:t>CONSORTIUM</a:t>
            </a:r>
            <a:endParaRPr lang="en-US" sz="1200" dirty="0"/>
          </a:p>
        </p:txBody>
      </p:sp>
      <p:sp>
        <p:nvSpPr>
          <p:cNvPr id="22" name="Text 19"/>
          <p:cNvSpPr/>
          <p:nvPr/>
        </p:nvSpPr>
        <p:spPr>
          <a:xfrm>
            <a:off x="6731000" y="5089922"/>
            <a:ext cx="3139440" cy="299641"/>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1A1A1A"/>
                </a:solidFill>
                <a:latin typeface="Carlito" pitchFamily="34" charset="0"/>
                <a:ea typeface="Carlito" pitchFamily="34" charset="-122"/>
                <a:cs typeface="Carlito" pitchFamily="34" charset="-120"/>
              </a:rPr>
              <a:t>10 partners, 5 countries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ph type="title"/>
          </p:nvPr>
        </p:nvSpPr>
        <p:spPr>
          <a:xfrm>
            <a:off x="0" y="0"/>
            <a:ext cx="12557760"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058C98"/>
                </a:solidFill>
                <a:latin typeface="Carlito" pitchFamily="34" charset="0"/>
                <a:ea typeface="Carlito" pitchFamily="34" charset="-122"/>
                <a:cs typeface="Carlito" pitchFamily="34" charset="-120"/>
              </a:rPr>
              <a:t>Our Consortium</a:t>
            </a:r>
            <a:endParaRPr lang="en-US" sz="2800" dirty="0"/>
          </a:p>
        </p:txBody>
      </p:sp>
      <p:pic>
        <p:nvPicPr>
          <p:cNvPr id="4" name="Image 1" descr="Consortium diagram: universities and research institutes (Chalmers, Fraunhofer ISI, LUT University, University of Pisa, TU Berlin) linked to industry need-owner partners (TransnetBW, EDF, Stockholm Exergi, IN4climate.NRW, associated partner ABB)">    </p:cNvPr>
          <p:cNvPicPr>
            <a:picLocks noChangeAspect="1"/>
          </p:cNvPicPr>
          <p:nvPr/>
        </p:nvPicPr>
        <p:blipFill>
          <a:blip r:embed="rId2"/>
          <a:srcRect l="0" r="0" t="-36" b="-36"/>
          <a:stretch/>
        </p:blipFill>
        <p:spPr>
          <a:xfrm>
            <a:off x="2032000" y="1649115"/>
            <a:ext cx="8128000" cy="3473450"/>
          </a:xfrm>
          <a:prstGeom prst="rect">
            <a:avLst/>
          </a:prstGeom>
        </p:spPr>
      </p:pic>
      <p:sp>
        <p:nvSpPr>
          <p:cNvPr id="5" name="Text 1"/>
          <p:cNvSpPr/>
          <p:nvPr/>
        </p:nvSpPr>
        <p:spPr>
          <a:xfrm>
            <a:off x="2691606" y="5351165"/>
            <a:ext cx="1150144" cy="350441"/>
          </a:xfrm>
          <a:prstGeom prst="roundRect">
            <a:avLst>
              <a:gd name="adj" fmla="val 50000"/>
            </a:avLst>
          </a:prstGeom>
          <a:solidFill>
            <a:srgbClr val="058C98"/>
          </a:solidFill>
          <a:ln/>
        </p:spPr>
        <p:txBody>
          <a:bodyPr wrap="none" lIns="0" tIns="0" rIns="0" bIns="0" rtlCol="0" anchor="ctr">
            <a:normAutofit/>
          </a:bodyPr>
          <a:lstStyle/>
          <a:p>
            <a:pPr algn="ctr" indent="0" marL="0">
              <a:lnSpc>
                <a:spcPts val="1960"/>
              </a:lnSpc>
              <a:buNone/>
            </a:pPr>
            <a:r>
              <a:rPr lang="en-US" sz="1400" b="1" dirty="0">
                <a:solidFill>
                  <a:srgbClr val="FFFFFF"/>
                </a:solidFill>
                <a:latin typeface="Carlito" pitchFamily="34" charset="0"/>
                <a:ea typeface="Carlito" pitchFamily="34" charset="-122"/>
                <a:cs typeface="Carlito" pitchFamily="34" charset="-120"/>
              </a:rPr>
              <a:t>10 partners</a:t>
            </a:r>
            <a:endParaRPr lang="en-US" sz="1400" dirty="0"/>
          </a:p>
        </p:txBody>
      </p:sp>
      <p:sp>
        <p:nvSpPr>
          <p:cNvPr id="6" name="Text 2"/>
          <p:cNvSpPr/>
          <p:nvPr/>
        </p:nvSpPr>
        <p:spPr>
          <a:xfrm>
            <a:off x="3943350" y="5351165"/>
            <a:ext cx="1180604" cy="350441"/>
          </a:xfrm>
          <a:prstGeom prst="roundRect">
            <a:avLst>
              <a:gd name="adj" fmla="val 50000"/>
            </a:avLst>
          </a:prstGeom>
          <a:solidFill>
            <a:srgbClr val="E3F1F2"/>
          </a:solidFill>
          <a:ln/>
        </p:spPr>
        <p:txBody>
          <a:bodyPr wrap="none" lIns="0" tIns="0" rIns="0" bIns="0" rtlCol="0" anchor="ctr">
            <a:normAutofit/>
          </a:bodyPr>
          <a:lstStyle/>
          <a:p>
            <a:pPr algn="ctr" indent="0" marL="0">
              <a:lnSpc>
                <a:spcPts val="1960"/>
              </a:lnSpc>
              <a:buNone/>
            </a:pPr>
            <a:r>
              <a:rPr lang="en-US" sz="1400" dirty="0">
                <a:solidFill>
                  <a:srgbClr val="05606A"/>
                </a:solidFill>
                <a:latin typeface="Carlito" pitchFamily="34" charset="0"/>
                <a:ea typeface="Carlito" pitchFamily="34" charset="-122"/>
                <a:cs typeface="Carlito" pitchFamily="34" charset="-120"/>
              </a:rPr>
              <a:t>Germany · 4</a:t>
            </a:r>
            <a:endParaRPr lang="en-US" sz="1400" dirty="0"/>
          </a:p>
        </p:txBody>
      </p:sp>
      <p:sp>
        <p:nvSpPr>
          <p:cNvPr id="7" name="Text 3"/>
          <p:cNvSpPr/>
          <p:nvPr/>
        </p:nvSpPr>
        <p:spPr>
          <a:xfrm>
            <a:off x="5225554" y="5351165"/>
            <a:ext cx="1089720" cy="350441"/>
          </a:xfrm>
          <a:prstGeom prst="roundRect">
            <a:avLst>
              <a:gd name="adj" fmla="val 50000"/>
            </a:avLst>
          </a:prstGeom>
          <a:solidFill>
            <a:srgbClr val="E3F1F2"/>
          </a:solidFill>
          <a:ln/>
        </p:spPr>
        <p:txBody>
          <a:bodyPr wrap="none" lIns="0" tIns="0" rIns="0" bIns="0" rtlCol="0" anchor="ctr">
            <a:normAutofit/>
          </a:bodyPr>
          <a:lstStyle/>
          <a:p>
            <a:pPr algn="ctr" indent="0" marL="0">
              <a:lnSpc>
                <a:spcPts val="1960"/>
              </a:lnSpc>
              <a:buNone/>
            </a:pPr>
            <a:r>
              <a:rPr lang="en-US" sz="1400" dirty="0">
                <a:solidFill>
                  <a:srgbClr val="05606A"/>
                </a:solidFill>
                <a:latin typeface="Carlito" pitchFamily="34" charset="0"/>
                <a:ea typeface="Carlito" pitchFamily="34" charset="-122"/>
                <a:cs typeface="Carlito" pitchFamily="34" charset="-120"/>
              </a:rPr>
              <a:t>Sweden · 2</a:t>
            </a:r>
            <a:endParaRPr lang="en-US" sz="1400" dirty="0"/>
          </a:p>
        </p:txBody>
      </p:sp>
      <p:sp>
        <p:nvSpPr>
          <p:cNvPr id="8" name="Text 4"/>
          <p:cNvSpPr/>
          <p:nvPr/>
        </p:nvSpPr>
        <p:spPr>
          <a:xfrm>
            <a:off x="6416873" y="5351165"/>
            <a:ext cx="1048941" cy="350441"/>
          </a:xfrm>
          <a:prstGeom prst="roundRect">
            <a:avLst>
              <a:gd name="adj" fmla="val 50000"/>
            </a:avLst>
          </a:prstGeom>
          <a:solidFill>
            <a:srgbClr val="E3F1F2"/>
          </a:solidFill>
          <a:ln/>
        </p:spPr>
        <p:txBody>
          <a:bodyPr wrap="none" lIns="0" tIns="0" rIns="0" bIns="0" rtlCol="0" anchor="ctr">
            <a:normAutofit/>
          </a:bodyPr>
          <a:lstStyle/>
          <a:p>
            <a:pPr algn="ctr" indent="0" marL="0">
              <a:lnSpc>
                <a:spcPts val="1960"/>
              </a:lnSpc>
              <a:buNone/>
            </a:pPr>
            <a:r>
              <a:rPr lang="en-US" sz="1400" dirty="0">
                <a:solidFill>
                  <a:srgbClr val="05606A"/>
                </a:solidFill>
                <a:latin typeface="Carlito" pitchFamily="34" charset="0"/>
                <a:ea typeface="Carlito" pitchFamily="34" charset="-122"/>
                <a:cs typeface="Carlito" pitchFamily="34" charset="-120"/>
              </a:rPr>
              <a:t>Finland · 2</a:t>
            </a:r>
            <a:endParaRPr lang="en-US" sz="1400" dirty="0"/>
          </a:p>
        </p:txBody>
      </p:sp>
      <p:sp>
        <p:nvSpPr>
          <p:cNvPr id="9" name="Text 5"/>
          <p:cNvSpPr/>
          <p:nvPr/>
        </p:nvSpPr>
        <p:spPr>
          <a:xfrm>
            <a:off x="7567414" y="5351165"/>
            <a:ext cx="828873" cy="350441"/>
          </a:xfrm>
          <a:prstGeom prst="roundRect">
            <a:avLst>
              <a:gd name="adj" fmla="val 50000"/>
            </a:avLst>
          </a:prstGeom>
          <a:solidFill>
            <a:srgbClr val="E3F1F2"/>
          </a:solidFill>
          <a:ln/>
        </p:spPr>
        <p:txBody>
          <a:bodyPr wrap="none" lIns="0" tIns="0" rIns="0" bIns="0" rtlCol="0" anchor="ctr">
            <a:normAutofit/>
          </a:bodyPr>
          <a:lstStyle/>
          <a:p>
            <a:pPr algn="ctr" indent="0" marL="0">
              <a:lnSpc>
                <a:spcPts val="1960"/>
              </a:lnSpc>
              <a:buNone/>
            </a:pPr>
            <a:r>
              <a:rPr lang="en-US" sz="1400" dirty="0">
                <a:solidFill>
                  <a:srgbClr val="05606A"/>
                </a:solidFill>
                <a:latin typeface="Carlito" pitchFamily="34" charset="0"/>
                <a:ea typeface="Carlito" pitchFamily="34" charset="-122"/>
                <a:cs typeface="Carlito" pitchFamily="34" charset="-120"/>
              </a:rPr>
              <a:t>Italy · 1</a:t>
            </a:r>
            <a:endParaRPr lang="en-US" sz="1400" dirty="0"/>
          </a:p>
        </p:txBody>
      </p:sp>
      <p:sp>
        <p:nvSpPr>
          <p:cNvPr id="10" name="Text 6"/>
          <p:cNvSpPr/>
          <p:nvPr/>
        </p:nvSpPr>
        <p:spPr>
          <a:xfrm>
            <a:off x="8497888" y="5351165"/>
            <a:ext cx="1002506" cy="350441"/>
          </a:xfrm>
          <a:prstGeom prst="roundRect">
            <a:avLst>
              <a:gd name="adj" fmla="val 50000"/>
            </a:avLst>
          </a:prstGeom>
          <a:solidFill>
            <a:srgbClr val="E3F1F2"/>
          </a:solidFill>
          <a:ln/>
        </p:spPr>
        <p:txBody>
          <a:bodyPr wrap="none" lIns="0" tIns="0" rIns="0" bIns="0" rtlCol="0" anchor="ctr">
            <a:normAutofit/>
          </a:bodyPr>
          <a:lstStyle/>
          <a:p>
            <a:pPr algn="ctr" indent="0" marL="0">
              <a:lnSpc>
                <a:spcPts val="1960"/>
              </a:lnSpc>
              <a:buNone/>
            </a:pPr>
            <a:r>
              <a:rPr lang="en-US" sz="1400" dirty="0">
                <a:solidFill>
                  <a:srgbClr val="05606A"/>
                </a:solidFill>
                <a:latin typeface="Carlito" pitchFamily="34" charset="0"/>
                <a:ea typeface="Carlito" pitchFamily="34" charset="-122"/>
                <a:cs typeface="Carlito" pitchFamily="34" charset="-120"/>
              </a:rPr>
              <a:t>France · 1</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ph type="title"/>
          </p:nvPr>
        </p:nvSpPr>
        <p:spPr>
          <a:xfrm>
            <a:off x="0" y="0"/>
            <a:ext cx="12557760"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058C98"/>
                </a:solidFill>
                <a:latin typeface="Carlito" pitchFamily="34" charset="0"/>
                <a:ea typeface="Carlito" pitchFamily="34" charset="-122"/>
                <a:cs typeface="Carlito" pitchFamily="34" charset="-120"/>
              </a:rPr>
              <a:t>Our Research Focus</a:t>
            </a:r>
            <a:endParaRPr lang="en-US" sz="2800" dirty="0"/>
          </a:p>
        </p:txBody>
      </p:sp>
      <p:sp>
        <p:nvSpPr>
          <p:cNvPr id="4" name="Text 1"/>
          <p:cNvSpPr/>
          <p:nvPr/>
        </p:nvSpPr>
        <p:spPr>
          <a:xfrm>
            <a:off x="1746250" y="1986558"/>
            <a:ext cx="2812415" cy="238720"/>
          </a:xfrm>
          <a:prstGeom prst="rect">
            <a:avLst/>
          </a:prstGeom>
          <a:noFill/>
          <a:ln/>
        </p:spPr>
        <p:txBody>
          <a:bodyPr wrap="square" lIns="0" tIns="0" rIns="0" bIns="0" rtlCol="0" anchor="t">
            <a:normAutofit/>
          </a:bodyPr>
          <a:lstStyle/>
          <a:p>
            <a:pPr algn="l" indent="0" marL="0">
              <a:lnSpc>
                <a:spcPts val="1680"/>
              </a:lnSpc>
              <a:buNone/>
            </a:pPr>
            <a:r>
              <a:rPr lang="en-US" sz="1400" b="1" spc="100" kern="0" dirty="0">
                <a:solidFill>
                  <a:srgbClr val="058C98"/>
                </a:solidFill>
                <a:latin typeface="Carlito" pitchFamily="34" charset="0"/>
                <a:ea typeface="Carlito" pitchFamily="34" charset="-122"/>
                <a:cs typeface="Carlito" pitchFamily="34" charset="-120"/>
              </a:rPr>
              <a:t>UNCERTAINTIES</a:t>
            </a:r>
            <a:endParaRPr lang="en-US" sz="1400" dirty="0"/>
          </a:p>
        </p:txBody>
      </p:sp>
      <p:sp>
        <p:nvSpPr>
          <p:cNvPr id="5" name="Text 2"/>
          <p:cNvSpPr/>
          <p:nvPr/>
        </p:nvSpPr>
        <p:spPr>
          <a:xfrm>
            <a:off x="1746250" y="2276078"/>
            <a:ext cx="2730500" cy="375841"/>
          </a:xfrm>
          <a:prstGeom prst="roundRect">
            <a:avLst>
              <a:gd name="adj" fmla="val 20275"/>
            </a:avLst>
          </a:prstGeom>
          <a:solidFill>
            <a:srgbClr val="F1F6F6"/>
          </a:solidFill>
          <a:ln/>
        </p:spPr>
        <p:txBody>
          <a:bodyPr wrap="square" lIns="104682" tIns="41182" rIns="30387" bIns="15782" rtlCol="0" anchor="t">
            <a:normAutofit/>
          </a:bodyPr>
          <a:lstStyle/>
          <a:p>
            <a:pPr algn="l" indent="0" marL="0">
              <a:lnSpc>
                <a:spcPts val="1960"/>
              </a:lnSpc>
              <a:buNone/>
            </a:pPr>
            <a:r>
              <a:rPr lang="en-US" sz="1400" dirty="0">
                <a:solidFill>
                  <a:srgbClr val="1A1A1A"/>
                </a:solidFill>
                <a:latin typeface="Carlito" pitchFamily="34" charset="0"/>
                <a:ea typeface="Carlito" pitchFamily="34" charset="-122"/>
                <a:cs typeface="Carlito" pitchFamily="34" charset="-120"/>
              </a:rPr>
              <a:t>Fuel &amp; technology costs</a:t>
            </a:r>
            <a:endParaRPr lang="en-US" sz="1400" dirty="0"/>
          </a:p>
        </p:txBody>
      </p:sp>
      <p:sp>
        <p:nvSpPr>
          <p:cNvPr id="6" name="Text 3"/>
          <p:cNvSpPr/>
          <p:nvPr/>
        </p:nvSpPr>
        <p:spPr>
          <a:xfrm>
            <a:off x="1746250" y="2728119"/>
            <a:ext cx="2730500" cy="375841"/>
          </a:xfrm>
          <a:prstGeom prst="roundRect">
            <a:avLst>
              <a:gd name="adj" fmla="val 20275"/>
            </a:avLst>
          </a:prstGeom>
          <a:solidFill>
            <a:srgbClr val="F1F6F6"/>
          </a:solidFill>
          <a:ln/>
        </p:spPr>
        <p:txBody>
          <a:bodyPr wrap="square" lIns="104682" tIns="41182" rIns="30387" bIns="15782" rtlCol="0" anchor="t">
            <a:normAutofit/>
          </a:bodyPr>
          <a:lstStyle/>
          <a:p>
            <a:pPr algn="l" indent="0" marL="0">
              <a:lnSpc>
                <a:spcPts val="1960"/>
              </a:lnSpc>
              <a:buNone/>
            </a:pPr>
            <a:r>
              <a:rPr lang="en-US" sz="1400" dirty="0">
                <a:solidFill>
                  <a:srgbClr val="1A1A1A"/>
                </a:solidFill>
                <a:latin typeface="Carlito" pitchFamily="34" charset="0"/>
                <a:ea typeface="Carlito" pitchFamily="34" charset="-122"/>
                <a:cs typeface="Carlito" pitchFamily="34" charset="-120"/>
              </a:rPr>
              <a:t>Hydrogen availability</a:t>
            </a:r>
            <a:endParaRPr lang="en-US" sz="1400" dirty="0"/>
          </a:p>
        </p:txBody>
      </p:sp>
      <p:sp>
        <p:nvSpPr>
          <p:cNvPr id="7" name="Text 4"/>
          <p:cNvSpPr/>
          <p:nvPr/>
        </p:nvSpPr>
        <p:spPr>
          <a:xfrm>
            <a:off x="1746250" y="3180159"/>
            <a:ext cx="2730500" cy="375841"/>
          </a:xfrm>
          <a:prstGeom prst="roundRect">
            <a:avLst>
              <a:gd name="adj" fmla="val 20275"/>
            </a:avLst>
          </a:prstGeom>
          <a:solidFill>
            <a:srgbClr val="F1F6F6"/>
          </a:solidFill>
          <a:ln/>
        </p:spPr>
        <p:txBody>
          <a:bodyPr wrap="square" lIns="104682" tIns="41182" rIns="30387" bIns="15782" rtlCol="0" anchor="t">
            <a:normAutofit/>
          </a:bodyPr>
          <a:lstStyle/>
          <a:p>
            <a:pPr algn="l" indent="0" marL="0">
              <a:lnSpc>
                <a:spcPts val="1960"/>
              </a:lnSpc>
              <a:buNone/>
            </a:pPr>
            <a:r>
              <a:rPr lang="en-US" sz="1400" dirty="0">
                <a:solidFill>
                  <a:srgbClr val="1A1A1A"/>
                </a:solidFill>
                <a:latin typeface="Carlito" pitchFamily="34" charset="0"/>
                <a:ea typeface="Carlito" pitchFamily="34" charset="-122"/>
                <a:cs typeface="Carlito" pitchFamily="34" charset="-120"/>
              </a:rPr>
              <a:t>Grid &amp; pipeline delays</a:t>
            </a:r>
            <a:endParaRPr lang="en-US" sz="1400" dirty="0"/>
          </a:p>
        </p:txBody>
      </p:sp>
      <p:sp>
        <p:nvSpPr>
          <p:cNvPr id="8" name="Text 5"/>
          <p:cNvSpPr/>
          <p:nvPr/>
        </p:nvSpPr>
        <p:spPr>
          <a:xfrm>
            <a:off x="1746250" y="3632200"/>
            <a:ext cx="2730500" cy="375841"/>
          </a:xfrm>
          <a:prstGeom prst="roundRect">
            <a:avLst>
              <a:gd name="adj" fmla="val 20275"/>
            </a:avLst>
          </a:prstGeom>
          <a:solidFill>
            <a:srgbClr val="F1F6F6"/>
          </a:solidFill>
          <a:ln/>
        </p:spPr>
        <p:txBody>
          <a:bodyPr wrap="square" lIns="104682" tIns="41182" rIns="30387" bIns="15782" rtlCol="0" anchor="t">
            <a:normAutofit/>
          </a:bodyPr>
          <a:lstStyle/>
          <a:p>
            <a:pPr algn="l" indent="0" marL="0">
              <a:lnSpc>
                <a:spcPts val="1960"/>
              </a:lnSpc>
              <a:buNone/>
            </a:pPr>
            <a:r>
              <a:rPr lang="en-US" sz="1400" dirty="0">
                <a:solidFill>
                  <a:srgbClr val="1A1A1A"/>
                </a:solidFill>
                <a:latin typeface="Carlito" pitchFamily="34" charset="0"/>
                <a:ea typeface="Carlito" pitchFamily="34" charset="-122"/>
                <a:cs typeface="Carlito" pitchFamily="34" charset="-120"/>
              </a:rPr>
              <a:t>Industry restructuring</a:t>
            </a:r>
            <a:endParaRPr lang="en-US" sz="1400" dirty="0"/>
          </a:p>
        </p:txBody>
      </p:sp>
      <p:sp>
        <p:nvSpPr>
          <p:cNvPr id="9" name="Text 6"/>
          <p:cNvSpPr/>
          <p:nvPr/>
        </p:nvSpPr>
        <p:spPr>
          <a:xfrm>
            <a:off x="1746250" y="4084241"/>
            <a:ext cx="2730500" cy="375841"/>
          </a:xfrm>
          <a:prstGeom prst="roundRect">
            <a:avLst>
              <a:gd name="adj" fmla="val 20275"/>
            </a:avLst>
          </a:prstGeom>
          <a:solidFill>
            <a:srgbClr val="F1F6F6"/>
          </a:solidFill>
          <a:ln/>
        </p:spPr>
        <p:txBody>
          <a:bodyPr wrap="square" lIns="104682" tIns="41182" rIns="30387" bIns="15782" rtlCol="0" anchor="t">
            <a:normAutofit/>
          </a:bodyPr>
          <a:lstStyle/>
          <a:p>
            <a:pPr algn="l" indent="0" marL="0">
              <a:lnSpc>
                <a:spcPts val="1960"/>
              </a:lnSpc>
              <a:buNone/>
            </a:pPr>
            <a:r>
              <a:rPr lang="en-US" sz="1400" dirty="0">
                <a:solidFill>
                  <a:srgbClr val="1A1A1A"/>
                </a:solidFill>
                <a:latin typeface="Carlito" pitchFamily="34" charset="0"/>
                <a:ea typeface="Carlito" pitchFamily="34" charset="-122"/>
                <a:cs typeface="Carlito" pitchFamily="34" charset="-120"/>
              </a:rPr>
              <a:t>E-fuel &amp; material imports</a:t>
            </a:r>
            <a:endParaRPr lang="en-US" sz="1400" dirty="0"/>
          </a:p>
        </p:txBody>
      </p:sp>
      <p:sp>
        <p:nvSpPr>
          <p:cNvPr id="10" name="Text 7"/>
          <p:cNvSpPr/>
          <p:nvPr/>
        </p:nvSpPr>
        <p:spPr>
          <a:xfrm>
            <a:off x="1746250" y="4536281"/>
            <a:ext cx="2730500" cy="375841"/>
          </a:xfrm>
          <a:prstGeom prst="roundRect">
            <a:avLst>
              <a:gd name="adj" fmla="val 20275"/>
            </a:avLst>
          </a:prstGeom>
          <a:solidFill>
            <a:srgbClr val="F1F6F6"/>
          </a:solidFill>
          <a:ln/>
        </p:spPr>
        <p:txBody>
          <a:bodyPr wrap="square" lIns="104682" tIns="41182" rIns="30387" bIns="15782" rtlCol="0" anchor="t">
            <a:normAutofit/>
          </a:bodyPr>
          <a:lstStyle/>
          <a:p>
            <a:pPr algn="l" indent="0" marL="0">
              <a:lnSpc>
                <a:spcPts val="1960"/>
              </a:lnSpc>
              <a:buNone/>
            </a:pPr>
            <a:r>
              <a:rPr lang="en-US" sz="1400" dirty="0">
                <a:solidFill>
                  <a:srgbClr val="1A1A1A"/>
                </a:solidFill>
                <a:latin typeface="Carlito" pitchFamily="34" charset="0"/>
                <a:ea typeface="Carlito" pitchFamily="34" charset="-122"/>
                <a:cs typeface="Carlito" pitchFamily="34" charset="-120"/>
              </a:rPr>
              <a:t>Renewables build-out</a:t>
            </a:r>
            <a:endParaRPr lang="en-US" sz="1400" dirty="0"/>
          </a:p>
        </p:txBody>
      </p:sp>
      <p:sp>
        <p:nvSpPr>
          <p:cNvPr id="11" name="Text 8"/>
          <p:cNvSpPr/>
          <p:nvPr/>
        </p:nvSpPr>
        <p:spPr>
          <a:xfrm>
            <a:off x="1746250" y="4988322"/>
            <a:ext cx="2730500" cy="375841"/>
          </a:xfrm>
          <a:prstGeom prst="roundRect">
            <a:avLst>
              <a:gd name="adj" fmla="val 20275"/>
            </a:avLst>
          </a:prstGeom>
          <a:solidFill>
            <a:srgbClr val="F1F6F6"/>
          </a:solidFill>
          <a:ln/>
        </p:spPr>
        <p:txBody>
          <a:bodyPr wrap="square" lIns="104682" tIns="41182" rIns="30387" bIns="15782" rtlCol="0" anchor="t">
            <a:normAutofit/>
          </a:bodyPr>
          <a:lstStyle/>
          <a:p>
            <a:pPr algn="l" indent="0" marL="0">
              <a:lnSpc>
                <a:spcPts val="1960"/>
              </a:lnSpc>
              <a:buNone/>
            </a:pPr>
            <a:r>
              <a:rPr lang="en-US" sz="1400" dirty="0">
                <a:solidFill>
                  <a:srgbClr val="1A1A1A"/>
                </a:solidFill>
                <a:latin typeface="Carlito" pitchFamily="34" charset="0"/>
                <a:ea typeface="Carlito" pitchFamily="34" charset="-122"/>
                <a:cs typeface="Carlito" pitchFamily="34" charset="-120"/>
              </a:rPr>
              <a:t>Social acceptance</a:t>
            </a:r>
            <a:endParaRPr lang="en-US" sz="1400" dirty="0"/>
          </a:p>
        </p:txBody>
      </p:sp>
      <p:pic>
        <p:nvPicPr>
          <p:cNvPr id="12" name="Image 1" descr="arrow-right">    </p:cNvPr>
          <p:cNvPicPr>
            <a:picLocks noChangeAspect="1"/>
          </p:cNvPicPr>
          <p:nvPr/>
        </p:nvPicPr>
        <p:blipFill>
          <a:blip r:embed="rId2"/>
          <a:srcRect l="0" r="0" t="0" b="0"/>
          <a:stretch/>
        </p:blipFill>
        <p:spPr>
          <a:xfrm>
            <a:off x="4654550" y="3573760"/>
            <a:ext cx="406400" cy="203200"/>
          </a:xfrm>
          <a:prstGeom prst="rect">
            <a:avLst/>
          </a:prstGeom>
        </p:spPr>
      </p:pic>
      <p:sp>
        <p:nvSpPr>
          <p:cNvPr id="13" name="Shape 9"/>
          <p:cNvSpPr/>
          <p:nvPr/>
        </p:nvSpPr>
        <p:spPr>
          <a:xfrm>
            <a:off x="5238750" y="2382639"/>
            <a:ext cx="2540000" cy="2585343"/>
          </a:xfrm>
          <a:prstGeom prst="roundRect">
            <a:avLst>
              <a:gd name="adj" fmla="val 6000"/>
            </a:avLst>
          </a:prstGeom>
          <a:solidFill>
            <a:srgbClr val="058C98"/>
          </a:solidFill>
          <a:ln/>
        </p:spPr>
      </p:sp>
      <p:sp>
        <p:nvSpPr>
          <p:cNvPr id="14" name="Text 10"/>
          <p:cNvSpPr/>
          <p:nvPr/>
        </p:nvSpPr>
        <p:spPr>
          <a:xfrm>
            <a:off x="5467350" y="2611239"/>
            <a:ext cx="2145284"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FFFFF"/>
                </a:solidFill>
                <a:latin typeface="Carlito" pitchFamily="34" charset="0"/>
                <a:ea typeface="Carlito" pitchFamily="34" charset="-122"/>
                <a:cs typeface="Carlito" pitchFamily="34" charset="-120"/>
              </a:rPr>
              <a:t>PyPSA-Eur</a:t>
            </a:r>
            <a:endParaRPr lang="en-US" sz="2200" dirty="0"/>
          </a:p>
        </p:txBody>
      </p:sp>
      <p:sp>
        <p:nvSpPr>
          <p:cNvPr id="15" name="Text 11"/>
          <p:cNvSpPr/>
          <p:nvPr/>
        </p:nvSpPr>
        <p:spPr>
          <a:xfrm>
            <a:off x="5467350" y="3048099"/>
            <a:ext cx="2145284"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FFFFF"/>
                </a:solidFill>
                <a:latin typeface="Carlito" pitchFamily="34" charset="0"/>
                <a:ea typeface="Carlito" pitchFamily="34" charset="-122"/>
                <a:cs typeface="Carlito" pitchFamily="34" charset="-120"/>
              </a:rPr>
              <a:t>+ stochastic optimisation &amp; CVaR</a:t>
            </a:r>
            <a:endParaRPr lang="en-US" sz="1400" dirty="0"/>
          </a:p>
        </p:txBody>
      </p:sp>
      <p:sp>
        <p:nvSpPr>
          <p:cNvPr id="16" name="Text 12"/>
          <p:cNvSpPr/>
          <p:nvPr/>
        </p:nvSpPr>
        <p:spPr>
          <a:xfrm>
            <a:off x="5467350" y="3611860"/>
            <a:ext cx="2145284"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FFFFF"/>
                </a:solidFill>
                <a:latin typeface="Carlito" pitchFamily="34" charset="0"/>
                <a:ea typeface="Carlito" pitchFamily="34" charset="-122"/>
                <a:cs typeface="Carlito" pitchFamily="34" charset="-120"/>
              </a:rPr>
              <a:t>+ industry transformation</a:t>
            </a:r>
            <a:endParaRPr lang="en-US" sz="1400" dirty="0"/>
          </a:p>
        </p:txBody>
      </p:sp>
      <p:sp>
        <p:nvSpPr>
          <p:cNvPr id="17" name="Text 13"/>
          <p:cNvSpPr/>
          <p:nvPr/>
        </p:nvSpPr>
        <p:spPr>
          <a:xfrm>
            <a:off x="5467350" y="3944541"/>
            <a:ext cx="2145284"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FFFFF"/>
                </a:solidFill>
                <a:latin typeface="Carlito" pitchFamily="34" charset="0"/>
                <a:ea typeface="Carlito" pitchFamily="34" charset="-122"/>
                <a:cs typeface="Carlito" pitchFamily="34" charset="-120"/>
              </a:rPr>
              <a:t>+ e-fuels, biomass &amp; carbon capture</a:t>
            </a:r>
            <a:endParaRPr lang="en-US" sz="1400" dirty="0"/>
          </a:p>
        </p:txBody>
      </p:sp>
      <p:sp>
        <p:nvSpPr>
          <p:cNvPr id="18" name="Text 14"/>
          <p:cNvSpPr/>
          <p:nvPr/>
        </p:nvSpPr>
        <p:spPr>
          <a:xfrm>
            <a:off x="5467350" y="4508302"/>
            <a:ext cx="2145284"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FFFFF"/>
                </a:solidFill>
                <a:latin typeface="Carlito" pitchFamily="34" charset="0"/>
                <a:ea typeface="Carlito" pitchFamily="34" charset="-122"/>
                <a:cs typeface="Carlito" pitchFamily="34" charset="-120"/>
              </a:rPr>
              <a:t>+ SMS++ decomposition</a:t>
            </a:r>
            <a:endParaRPr lang="en-US" sz="1400" dirty="0"/>
          </a:p>
        </p:txBody>
      </p:sp>
      <p:pic>
        <p:nvPicPr>
          <p:cNvPr id="19" name="Image 2" descr="arrow-right">    </p:cNvPr>
          <p:cNvPicPr>
            <a:picLocks noChangeAspect="1"/>
          </p:cNvPicPr>
          <p:nvPr/>
        </p:nvPicPr>
        <p:blipFill>
          <a:blip r:embed="rId3"/>
          <a:srcRect l="0" r="0" t="0" b="0"/>
          <a:stretch/>
        </p:blipFill>
        <p:spPr>
          <a:xfrm>
            <a:off x="7956550" y="3573760"/>
            <a:ext cx="406400" cy="203200"/>
          </a:xfrm>
          <a:prstGeom prst="rect">
            <a:avLst/>
          </a:prstGeom>
        </p:spPr>
      </p:pic>
      <p:sp>
        <p:nvSpPr>
          <p:cNvPr id="20" name="Text 15"/>
          <p:cNvSpPr/>
          <p:nvPr/>
        </p:nvSpPr>
        <p:spPr>
          <a:xfrm>
            <a:off x="8540750" y="2135088"/>
            <a:ext cx="1962150" cy="238720"/>
          </a:xfrm>
          <a:prstGeom prst="rect">
            <a:avLst/>
          </a:prstGeom>
          <a:noFill/>
          <a:ln/>
        </p:spPr>
        <p:txBody>
          <a:bodyPr wrap="square" lIns="0" tIns="0" rIns="0" bIns="0" rtlCol="0" anchor="t">
            <a:normAutofit/>
          </a:bodyPr>
          <a:lstStyle/>
          <a:p>
            <a:pPr algn="l" indent="0" marL="0">
              <a:lnSpc>
                <a:spcPts val="1680"/>
              </a:lnSpc>
              <a:buNone/>
            </a:pPr>
            <a:r>
              <a:rPr lang="en-US" sz="1400" b="1" spc="100" kern="0" dirty="0">
                <a:solidFill>
                  <a:srgbClr val="058C98"/>
                </a:solidFill>
                <a:latin typeface="Carlito" pitchFamily="34" charset="0"/>
                <a:ea typeface="Carlito" pitchFamily="34" charset="-122"/>
                <a:cs typeface="Carlito" pitchFamily="34" charset="-120"/>
              </a:rPr>
              <a:t>OUTPUT</a:t>
            </a:r>
            <a:endParaRPr lang="en-US" sz="1400" dirty="0"/>
          </a:p>
        </p:txBody>
      </p:sp>
      <p:sp>
        <p:nvSpPr>
          <p:cNvPr id="21" name="Text 16"/>
          <p:cNvSpPr/>
          <p:nvPr/>
        </p:nvSpPr>
        <p:spPr>
          <a:xfrm>
            <a:off x="8540750" y="2424609"/>
            <a:ext cx="1962150" cy="8025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A1A1A"/>
                </a:solidFill>
                <a:latin typeface="Carlito" pitchFamily="34" charset="0"/>
                <a:ea typeface="Carlito" pitchFamily="34" charset="-122"/>
                <a:cs typeface="Carlito" pitchFamily="34" charset="-120"/>
              </a:rPr>
              <a:t>Resilient infrastructure layouts</a:t>
            </a:r>
            <a:endParaRPr lang="en-US" sz="1700" dirty="0"/>
          </a:p>
        </p:txBody>
      </p:sp>
      <p:sp>
        <p:nvSpPr>
          <p:cNvPr id="22" name="Text 17"/>
          <p:cNvSpPr/>
          <p:nvPr/>
        </p:nvSpPr>
        <p:spPr>
          <a:xfrm>
            <a:off x="8540750" y="3277989"/>
            <a:ext cx="196215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B6B70"/>
                </a:solidFill>
                <a:latin typeface="Carlito" pitchFamily="34" charset="0"/>
                <a:ea typeface="Carlito" pitchFamily="34" charset="-122"/>
                <a:cs typeface="Carlito" pitchFamily="34" charset="-120"/>
              </a:rPr>
              <a:t>Case studies</a:t>
            </a:r>
            <a:endParaRPr lang="en-US" sz="1300" dirty="0"/>
          </a:p>
        </p:txBody>
      </p:sp>
      <p:sp>
        <p:nvSpPr>
          <p:cNvPr id="23" name="Text 18"/>
          <p:cNvSpPr/>
          <p:nvPr/>
        </p:nvSpPr>
        <p:spPr>
          <a:xfrm>
            <a:off x="8540750" y="3585270"/>
            <a:ext cx="1905000" cy="350441"/>
          </a:xfrm>
          <a:prstGeom prst="roundRect">
            <a:avLst>
              <a:gd name="adj" fmla="val 50000"/>
            </a:avLst>
          </a:prstGeom>
          <a:solidFill>
            <a:srgbClr val="E3F1F2"/>
          </a:solidFill>
          <a:ln/>
        </p:spPr>
        <p:txBody>
          <a:bodyPr wrap="square" lIns="75680" tIns="0" rIns="24880" bIns="0" rtlCol="0" anchor="t">
            <a:normAutofit/>
          </a:bodyPr>
          <a:lstStyle/>
          <a:p>
            <a:pPr algn="l" indent="0" marL="0">
              <a:lnSpc>
                <a:spcPts val="1960"/>
              </a:lnSpc>
              <a:buNone/>
            </a:pPr>
            <a:r>
              <a:rPr lang="en-US" sz="1400" dirty="0">
                <a:solidFill>
                  <a:srgbClr val="05606A"/>
                </a:solidFill>
                <a:latin typeface="Carlito" pitchFamily="34" charset="0"/>
                <a:ea typeface="Carlito" pitchFamily="34" charset="-122"/>
                <a:cs typeface="Carlito" pitchFamily="34" charset="-120"/>
              </a:rPr>
              <a:t>France</a:t>
            </a:r>
            <a:endParaRPr lang="en-US" sz="1400" dirty="0"/>
          </a:p>
        </p:txBody>
      </p:sp>
      <p:sp>
        <p:nvSpPr>
          <p:cNvPr id="24" name="Text 19"/>
          <p:cNvSpPr/>
          <p:nvPr/>
        </p:nvSpPr>
        <p:spPr>
          <a:xfrm>
            <a:off x="8540750" y="4011910"/>
            <a:ext cx="1905000" cy="350441"/>
          </a:xfrm>
          <a:prstGeom prst="roundRect">
            <a:avLst>
              <a:gd name="adj" fmla="val 50000"/>
            </a:avLst>
          </a:prstGeom>
          <a:solidFill>
            <a:srgbClr val="E3F1F2"/>
          </a:solidFill>
          <a:ln/>
        </p:spPr>
        <p:txBody>
          <a:bodyPr wrap="square" lIns="75680" tIns="0" rIns="24880" bIns="0" rtlCol="0" anchor="t">
            <a:normAutofit/>
          </a:bodyPr>
          <a:lstStyle/>
          <a:p>
            <a:pPr algn="l" indent="0" marL="0">
              <a:lnSpc>
                <a:spcPts val="1960"/>
              </a:lnSpc>
              <a:buNone/>
            </a:pPr>
            <a:r>
              <a:rPr lang="en-US" sz="1400" dirty="0">
                <a:solidFill>
                  <a:srgbClr val="05606A"/>
                </a:solidFill>
                <a:latin typeface="Carlito" pitchFamily="34" charset="0"/>
                <a:ea typeface="Carlito" pitchFamily="34" charset="-122"/>
                <a:cs typeface="Carlito" pitchFamily="34" charset="-120"/>
              </a:rPr>
              <a:t>Germany</a:t>
            </a:r>
            <a:endParaRPr lang="en-US" sz="1400" dirty="0"/>
          </a:p>
        </p:txBody>
      </p:sp>
      <p:sp>
        <p:nvSpPr>
          <p:cNvPr id="25" name="Text 20"/>
          <p:cNvSpPr/>
          <p:nvPr/>
        </p:nvSpPr>
        <p:spPr>
          <a:xfrm>
            <a:off x="8540750" y="4438551"/>
            <a:ext cx="1905000" cy="350441"/>
          </a:xfrm>
          <a:prstGeom prst="roundRect">
            <a:avLst>
              <a:gd name="adj" fmla="val 50000"/>
            </a:avLst>
          </a:prstGeom>
          <a:solidFill>
            <a:srgbClr val="E3F1F2"/>
          </a:solidFill>
          <a:ln/>
        </p:spPr>
        <p:txBody>
          <a:bodyPr wrap="square" lIns="75680" tIns="0" rIns="24880" bIns="0" rtlCol="0" anchor="t">
            <a:normAutofit/>
          </a:bodyPr>
          <a:lstStyle/>
          <a:p>
            <a:pPr algn="l" indent="0" marL="0">
              <a:lnSpc>
                <a:spcPts val="1960"/>
              </a:lnSpc>
              <a:buNone/>
            </a:pPr>
            <a:r>
              <a:rPr lang="en-US" sz="1400" dirty="0">
                <a:solidFill>
                  <a:srgbClr val="05606A"/>
                </a:solidFill>
                <a:latin typeface="Carlito" pitchFamily="34" charset="0"/>
                <a:ea typeface="Carlito" pitchFamily="34" charset="-122"/>
                <a:cs typeface="Carlito" pitchFamily="34" charset="-120"/>
              </a:rPr>
              <a:t>Sweden</a:t>
            </a:r>
            <a:endParaRPr lang="en-US" sz="1400" dirty="0"/>
          </a:p>
        </p:txBody>
      </p:sp>
      <p:sp>
        <p:nvSpPr>
          <p:cNvPr id="26" name="Text 21"/>
          <p:cNvSpPr/>
          <p:nvPr/>
        </p:nvSpPr>
        <p:spPr>
          <a:xfrm>
            <a:off x="8540750" y="4865191"/>
            <a:ext cx="1905000" cy="350441"/>
          </a:xfrm>
          <a:prstGeom prst="roundRect">
            <a:avLst>
              <a:gd name="adj" fmla="val 50000"/>
            </a:avLst>
          </a:prstGeom>
          <a:solidFill>
            <a:srgbClr val="E3F1F2"/>
          </a:solidFill>
          <a:ln/>
        </p:spPr>
        <p:txBody>
          <a:bodyPr wrap="square" lIns="75680" tIns="0" rIns="24880" bIns="0" rtlCol="0" anchor="t">
            <a:normAutofit/>
          </a:bodyPr>
          <a:lstStyle/>
          <a:p>
            <a:pPr algn="l" indent="0" marL="0">
              <a:lnSpc>
                <a:spcPts val="1960"/>
              </a:lnSpc>
              <a:buNone/>
            </a:pPr>
            <a:r>
              <a:rPr lang="en-US" sz="1400" dirty="0">
                <a:solidFill>
                  <a:srgbClr val="05606A"/>
                </a:solidFill>
                <a:latin typeface="Carlito" pitchFamily="34" charset="0"/>
                <a:ea typeface="Carlito" pitchFamily="34" charset="-122"/>
                <a:cs typeface="Carlito" pitchFamily="34" charset="-120"/>
              </a:rPr>
              <a:t>Finland</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ph type="title"/>
          </p:nvPr>
        </p:nvSpPr>
        <p:spPr>
          <a:xfrm>
            <a:off x="0" y="0"/>
            <a:ext cx="12557760"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058C98"/>
                </a:solidFill>
                <a:latin typeface="Carlito" pitchFamily="34" charset="0"/>
                <a:ea typeface="Carlito" pitchFamily="34" charset="-122"/>
                <a:cs typeface="Carlito" pitchFamily="34" charset="-120"/>
              </a:rPr>
              <a:t>Key Innovations</a:t>
            </a:r>
            <a:endParaRPr lang="en-US" sz="2800" dirty="0"/>
          </a:p>
        </p:txBody>
      </p:sp>
      <p:sp>
        <p:nvSpPr>
          <p:cNvPr id="4" name="Text 1"/>
          <p:cNvSpPr/>
          <p:nvPr/>
        </p:nvSpPr>
        <p:spPr>
          <a:xfrm>
            <a:off x="2483644" y="2157809"/>
            <a:ext cx="7224713" cy="322560"/>
          </a:xfrm>
          <a:prstGeom prst="rect">
            <a:avLst/>
          </a:prstGeom>
          <a:noFill/>
          <a:ln/>
        </p:spPr>
        <p:txBody>
          <a:bodyPr wrap="square" lIns="0" tIns="0" rIns="0" bIns="0" rtlCol="0" anchor="t">
            <a:normAutofit/>
          </a:bodyPr>
          <a:lstStyle/>
          <a:p>
            <a:pPr algn="ctr" indent="0" marL="0">
              <a:lnSpc>
                <a:spcPts val="2340"/>
              </a:lnSpc>
              <a:buNone/>
            </a:pPr>
            <a:r>
              <a:rPr lang="en-US" sz="1800" dirty="0">
                <a:solidFill>
                  <a:srgbClr val="1A1A1A"/>
                </a:solidFill>
                <a:latin typeface="Carlito" pitchFamily="34" charset="0"/>
                <a:ea typeface="Carlito" pitchFamily="34" charset="-122"/>
                <a:cs typeface="Carlito" pitchFamily="34" charset="-120"/>
              </a:rPr>
              <a:t>Open-source planning of energy infrastructure under uncertainty</a:t>
            </a:r>
            <a:endParaRPr lang="en-US" sz="1800" dirty="0"/>
          </a:p>
        </p:txBody>
      </p:sp>
      <p:sp>
        <p:nvSpPr>
          <p:cNvPr id="5" name="Shape 2"/>
          <p:cNvSpPr/>
          <p:nvPr/>
        </p:nvSpPr>
        <p:spPr>
          <a:xfrm>
            <a:off x="2349500" y="2708970"/>
            <a:ext cx="1758950" cy="1112441"/>
          </a:xfrm>
          <a:prstGeom prst="roundRect">
            <a:avLst>
              <a:gd name="adj" fmla="val 9133"/>
            </a:avLst>
          </a:prstGeom>
          <a:solidFill>
            <a:srgbClr val="F1F6F6"/>
          </a:solidFill>
          <a:ln/>
        </p:spPr>
      </p:sp>
      <p:sp>
        <p:nvSpPr>
          <p:cNvPr id="6" name="Text 3"/>
          <p:cNvSpPr/>
          <p:nvPr/>
        </p:nvSpPr>
        <p:spPr>
          <a:xfrm>
            <a:off x="2527300" y="2886770"/>
            <a:ext cx="1454150"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05606A"/>
                </a:solidFill>
                <a:latin typeface="Carlito" pitchFamily="34" charset="0"/>
                <a:ea typeface="Carlito" pitchFamily="34" charset="-122"/>
                <a:cs typeface="Carlito" pitchFamily="34" charset="-120"/>
              </a:rPr>
              <a:t>17</a:t>
            </a:r>
            <a:endParaRPr lang="en-US" sz="3600" dirty="0"/>
          </a:p>
        </p:txBody>
      </p:sp>
      <p:sp>
        <p:nvSpPr>
          <p:cNvPr id="7" name="Text 4"/>
          <p:cNvSpPr/>
          <p:nvPr/>
        </p:nvSpPr>
        <p:spPr>
          <a:xfrm>
            <a:off x="2527300" y="3394770"/>
            <a:ext cx="145415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Carlito" pitchFamily="34" charset="0"/>
                <a:ea typeface="Carlito" pitchFamily="34" charset="-122"/>
                <a:cs typeface="Carlito" pitchFamily="34" charset="-120"/>
              </a:rPr>
              <a:t>research papers</a:t>
            </a:r>
            <a:endParaRPr lang="en-US" sz="1400" dirty="0"/>
          </a:p>
        </p:txBody>
      </p:sp>
      <p:sp>
        <p:nvSpPr>
          <p:cNvPr id="8" name="Shape 5"/>
          <p:cNvSpPr/>
          <p:nvPr/>
        </p:nvSpPr>
        <p:spPr>
          <a:xfrm>
            <a:off x="4260850" y="2708970"/>
            <a:ext cx="1758950" cy="1112441"/>
          </a:xfrm>
          <a:prstGeom prst="roundRect">
            <a:avLst>
              <a:gd name="adj" fmla="val 9133"/>
            </a:avLst>
          </a:prstGeom>
          <a:solidFill>
            <a:srgbClr val="F1F6F6"/>
          </a:solidFill>
          <a:ln/>
        </p:spPr>
      </p:sp>
      <p:sp>
        <p:nvSpPr>
          <p:cNvPr id="9" name="Text 6"/>
          <p:cNvSpPr/>
          <p:nvPr/>
        </p:nvSpPr>
        <p:spPr>
          <a:xfrm>
            <a:off x="4438650" y="2886770"/>
            <a:ext cx="1454150"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05606A"/>
                </a:solidFill>
                <a:latin typeface="Carlito" pitchFamily="34" charset="0"/>
                <a:ea typeface="Carlito" pitchFamily="34" charset="-122"/>
                <a:cs typeface="Carlito" pitchFamily="34" charset="-120"/>
              </a:rPr>
              <a:t>24</a:t>
            </a:r>
            <a:endParaRPr lang="en-US" sz="3600" dirty="0"/>
          </a:p>
        </p:txBody>
      </p:sp>
      <p:sp>
        <p:nvSpPr>
          <p:cNvPr id="10" name="Text 7"/>
          <p:cNvSpPr/>
          <p:nvPr/>
        </p:nvSpPr>
        <p:spPr>
          <a:xfrm>
            <a:off x="4438650" y="3394770"/>
            <a:ext cx="145415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Carlito" pitchFamily="34" charset="0"/>
                <a:ea typeface="Carlito" pitchFamily="34" charset="-122"/>
                <a:cs typeface="Carlito" pitchFamily="34" charset="-120"/>
              </a:rPr>
              <a:t>scientific talks</a:t>
            </a:r>
            <a:endParaRPr lang="en-US" sz="1400" dirty="0"/>
          </a:p>
        </p:txBody>
      </p:sp>
      <p:sp>
        <p:nvSpPr>
          <p:cNvPr id="11" name="Shape 8"/>
          <p:cNvSpPr/>
          <p:nvPr/>
        </p:nvSpPr>
        <p:spPr>
          <a:xfrm>
            <a:off x="6172200" y="2708970"/>
            <a:ext cx="1758950" cy="1112441"/>
          </a:xfrm>
          <a:prstGeom prst="roundRect">
            <a:avLst>
              <a:gd name="adj" fmla="val 9133"/>
            </a:avLst>
          </a:prstGeom>
          <a:solidFill>
            <a:srgbClr val="F1F6F6"/>
          </a:solidFill>
          <a:ln/>
        </p:spPr>
      </p:sp>
      <p:sp>
        <p:nvSpPr>
          <p:cNvPr id="12" name="Text 9"/>
          <p:cNvSpPr/>
          <p:nvPr/>
        </p:nvSpPr>
        <p:spPr>
          <a:xfrm>
            <a:off x="6350000" y="2886770"/>
            <a:ext cx="1454150"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05606A"/>
                </a:solidFill>
                <a:latin typeface="Carlito" pitchFamily="34" charset="0"/>
                <a:ea typeface="Carlito" pitchFamily="34" charset="-122"/>
                <a:cs typeface="Carlito" pitchFamily="34" charset="-120"/>
              </a:rPr>
              <a:t>9</a:t>
            </a:r>
            <a:endParaRPr lang="en-US" sz="3600" dirty="0"/>
          </a:p>
        </p:txBody>
      </p:sp>
      <p:sp>
        <p:nvSpPr>
          <p:cNvPr id="13" name="Text 10"/>
          <p:cNvSpPr/>
          <p:nvPr/>
        </p:nvSpPr>
        <p:spPr>
          <a:xfrm>
            <a:off x="6350000" y="3394770"/>
            <a:ext cx="145415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Carlito" pitchFamily="34" charset="0"/>
                <a:ea typeface="Carlito" pitchFamily="34" charset="-122"/>
                <a:cs typeface="Carlito" pitchFamily="34" charset="-120"/>
              </a:rPr>
              <a:t>workshops</a:t>
            </a:r>
            <a:endParaRPr lang="en-US" sz="1400" dirty="0"/>
          </a:p>
        </p:txBody>
      </p:sp>
      <p:sp>
        <p:nvSpPr>
          <p:cNvPr id="14" name="Shape 11"/>
          <p:cNvSpPr/>
          <p:nvPr/>
        </p:nvSpPr>
        <p:spPr>
          <a:xfrm>
            <a:off x="8083550" y="2708970"/>
            <a:ext cx="1758950" cy="1112441"/>
          </a:xfrm>
          <a:prstGeom prst="roundRect">
            <a:avLst>
              <a:gd name="adj" fmla="val 9133"/>
            </a:avLst>
          </a:prstGeom>
          <a:solidFill>
            <a:srgbClr val="F1F6F6"/>
          </a:solidFill>
          <a:ln/>
        </p:spPr>
      </p:sp>
      <p:sp>
        <p:nvSpPr>
          <p:cNvPr id="15" name="Text 12"/>
          <p:cNvSpPr/>
          <p:nvPr/>
        </p:nvSpPr>
        <p:spPr>
          <a:xfrm>
            <a:off x="8261350" y="2886770"/>
            <a:ext cx="1454150"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05606A"/>
                </a:solidFill>
                <a:latin typeface="Carlito" pitchFamily="34" charset="0"/>
                <a:ea typeface="Carlito" pitchFamily="34" charset="-122"/>
                <a:cs typeface="Carlito" pitchFamily="34" charset="-120"/>
              </a:rPr>
              <a:t>~220</a:t>
            </a:r>
            <a:endParaRPr lang="en-US" sz="3600" dirty="0"/>
          </a:p>
        </p:txBody>
      </p:sp>
      <p:sp>
        <p:nvSpPr>
          <p:cNvPr id="16" name="Text 13"/>
          <p:cNvSpPr/>
          <p:nvPr/>
        </p:nvSpPr>
        <p:spPr>
          <a:xfrm>
            <a:off x="8261350" y="3394770"/>
            <a:ext cx="145415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Carlito" pitchFamily="34" charset="0"/>
                <a:ea typeface="Carlito" pitchFamily="34" charset="-122"/>
                <a:cs typeface="Carlito" pitchFamily="34" charset="-120"/>
              </a:rPr>
              <a:t>people trained</a:t>
            </a:r>
            <a:endParaRPr lang="en-US" sz="1400" dirty="0"/>
          </a:p>
        </p:txBody>
      </p:sp>
      <p:sp>
        <p:nvSpPr>
          <p:cNvPr id="17" name="Text 14"/>
          <p:cNvSpPr/>
          <p:nvPr/>
        </p:nvSpPr>
        <p:spPr>
          <a:xfrm>
            <a:off x="5426392" y="4075410"/>
            <a:ext cx="1339215" cy="238720"/>
          </a:xfrm>
          <a:prstGeom prst="rect">
            <a:avLst/>
          </a:prstGeom>
          <a:noFill/>
          <a:ln/>
        </p:spPr>
        <p:txBody>
          <a:bodyPr wrap="square" lIns="0" tIns="0" rIns="0" bIns="0" rtlCol="0" anchor="t">
            <a:normAutofit/>
          </a:bodyPr>
          <a:lstStyle/>
          <a:p>
            <a:pPr algn="ctr" indent="0" marL="0">
              <a:lnSpc>
                <a:spcPts val="1680"/>
              </a:lnSpc>
              <a:buNone/>
            </a:pPr>
            <a:r>
              <a:rPr lang="en-US" sz="1200" b="1" spc="100" kern="0" dirty="0">
                <a:solidFill>
                  <a:srgbClr val="058C98"/>
                </a:solidFill>
                <a:latin typeface="Carlito" pitchFamily="34" charset="0"/>
                <a:ea typeface="Carlito" pitchFamily="34" charset="-122"/>
                <a:cs typeface="Carlito" pitchFamily="34" charset="-120"/>
              </a:rPr>
              <a:t>WHO BENEFITS</a:t>
            </a:r>
            <a:endParaRPr lang="en-US" sz="1200" dirty="0"/>
          </a:p>
        </p:txBody>
      </p:sp>
      <p:sp>
        <p:nvSpPr>
          <p:cNvPr id="18" name="Text 15"/>
          <p:cNvSpPr/>
          <p:nvPr/>
        </p:nvSpPr>
        <p:spPr>
          <a:xfrm>
            <a:off x="2511127" y="4390330"/>
            <a:ext cx="2515592" cy="350441"/>
          </a:xfrm>
          <a:prstGeom prst="roundRect">
            <a:avLst>
              <a:gd name="adj" fmla="val 50000"/>
            </a:avLst>
          </a:prstGeom>
          <a:solidFill>
            <a:srgbClr val="E3F1F2"/>
          </a:solidFill>
          <a:ln/>
        </p:spPr>
        <p:txBody>
          <a:bodyPr wrap="none" lIns="0" tIns="0" rIns="0" bIns="0" rtlCol="0" anchor="ctr">
            <a:normAutofit/>
          </a:bodyPr>
          <a:lstStyle/>
          <a:p>
            <a:pPr algn="ctr" indent="0" marL="0">
              <a:lnSpc>
                <a:spcPts val="1960"/>
              </a:lnSpc>
              <a:buNone/>
            </a:pPr>
            <a:r>
              <a:rPr lang="en-US" sz="1400" dirty="0">
                <a:solidFill>
                  <a:srgbClr val="05606A"/>
                </a:solidFill>
                <a:latin typeface="Carlito" pitchFamily="34" charset="0"/>
                <a:ea typeface="Carlito" pitchFamily="34" charset="-122"/>
                <a:cs typeface="Carlito" pitchFamily="34" charset="-120"/>
              </a:rPr>
              <a:t>Transmission system operators</a:t>
            </a:r>
            <a:endParaRPr lang="en-US" sz="1400" dirty="0"/>
          </a:p>
        </p:txBody>
      </p:sp>
      <p:sp>
        <p:nvSpPr>
          <p:cNvPr id="19" name="Text 16"/>
          <p:cNvSpPr/>
          <p:nvPr/>
        </p:nvSpPr>
        <p:spPr>
          <a:xfrm>
            <a:off x="5128320" y="4390330"/>
            <a:ext cx="1485801" cy="350441"/>
          </a:xfrm>
          <a:prstGeom prst="roundRect">
            <a:avLst>
              <a:gd name="adj" fmla="val 50000"/>
            </a:avLst>
          </a:prstGeom>
          <a:solidFill>
            <a:srgbClr val="E3F1F2"/>
          </a:solidFill>
          <a:ln/>
        </p:spPr>
        <p:txBody>
          <a:bodyPr wrap="none" lIns="0" tIns="0" rIns="0" bIns="0" rtlCol="0" anchor="ctr">
            <a:normAutofit/>
          </a:bodyPr>
          <a:lstStyle/>
          <a:p>
            <a:pPr algn="ctr" indent="0" marL="0">
              <a:lnSpc>
                <a:spcPts val="1960"/>
              </a:lnSpc>
              <a:buNone/>
            </a:pPr>
            <a:r>
              <a:rPr lang="en-US" sz="1400" dirty="0">
                <a:solidFill>
                  <a:srgbClr val="05606A"/>
                </a:solidFill>
                <a:latin typeface="Carlito" pitchFamily="34" charset="0"/>
                <a:ea typeface="Carlito" pitchFamily="34" charset="-122"/>
                <a:cs typeface="Carlito" pitchFamily="34" charset="-120"/>
              </a:rPr>
              <a:t>Energy suppliers</a:t>
            </a:r>
            <a:endParaRPr lang="en-US" sz="1400" dirty="0"/>
          </a:p>
        </p:txBody>
      </p:sp>
      <p:sp>
        <p:nvSpPr>
          <p:cNvPr id="20" name="Text 17"/>
          <p:cNvSpPr/>
          <p:nvPr/>
        </p:nvSpPr>
        <p:spPr>
          <a:xfrm>
            <a:off x="6715720" y="4390330"/>
            <a:ext cx="900311" cy="350441"/>
          </a:xfrm>
          <a:prstGeom prst="roundRect">
            <a:avLst>
              <a:gd name="adj" fmla="val 50000"/>
            </a:avLst>
          </a:prstGeom>
          <a:solidFill>
            <a:srgbClr val="E3F1F2"/>
          </a:solidFill>
          <a:ln/>
        </p:spPr>
        <p:txBody>
          <a:bodyPr wrap="none" lIns="0" tIns="0" rIns="0" bIns="0" rtlCol="0" anchor="ctr">
            <a:normAutofit/>
          </a:bodyPr>
          <a:lstStyle/>
          <a:p>
            <a:pPr algn="ctr" indent="0" marL="0">
              <a:lnSpc>
                <a:spcPts val="1960"/>
              </a:lnSpc>
              <a:buNone/>
            </a:pPr>
            <a:r>
              <a:rPr lang="en-US" sz="1400" dirty="0">
                <a:solidFill>
                  <a:srgbClr val="05606A"/>
                </a:solidFill>
                <a:latin typeface="Carlito" pitchFamily="34" charset="0"/>
                <a:ea typeface="Carlito" pitchFamily="34" charset="-122"/>
                <a:cs typeface="Carlito" pitchFamily="34" charset="-120"/>
              </a:rPr>
              <a:t>Industry</a:t>
            </a:r>
            <a:endParaRPr lang="en-US" sz="1400" dirty="0"/>
          </a:p>
        </p:txBody>
      </p:sp>
      <p:sp>
        <p:nvSpPr>
          <p:cNvPr id="21" name="Text 18"/>
          <p:cNvSpPr/>
          <p:nvPr/>
        </p:nvSpPr>
        <p:spPr>
          <a:xfrm>
            <a:off x="7717631" y="4390330"/>
            <a:ext cx="1963142" cy="350441"/>
          </a:xfrm>
          <a:prstGeom prst="roundRect">
            <a:avLst>
              <a:gd name="adj" fmla="val 50000"/>
            </a:avLst>
          </a:prstGeom>
          <a:solidFill>
            <a:srgbClr val="E3F1F2"/>
          </a:solidFill>
          <a:ln/>
        </p:spPr>
        <p:txBody>
          <a:bodyPr wrap="none" lIns="0" tIns="0" rIns="0" bIns="0" rtlCol="0" anchor="ctr">
            <a:normAutofit/>
          </a:bodyPr>
          <a:lstStyle/>
          <a:p>
            <a:pPr algn="ctr" indent="0" marL="0">
              <a:lnSpc>
                <a:spcPts val="1960"/>
              </a:lnSpc>
              <a:buNone/>
            </a:pPr>
            <a:r>
              <a:rPr lang="en-US" sz="1400" dirty="0">
                <a:solidFill>
                  <a:srgbClr val="05606A"/>
                </a:solidFill>
                <a:latin typeface="Carlito" pitchFamily="34" charset="0"/>
                <a:ea typeface="Carlito" pitchFamily="34" charset="-122"/>
                <a:cs typeface="Carlito" pitchFamily="34" charset="-120"/>
              </a:rPr>
              <a:t>State agencies &amp; policy</a:t>
            </a:r>
            <a:endParaRPr lang="en-US" sz="1400" dirty="0"/>
          </a:p>
        </p:txBody>
      </p:sp>
      <p:sp>
        <p:nvSpPr>
          <p:cNvPr id="22" name="Text 19"/>
          <p:cNvSpPr/>
          <p:nvPr/>
        </p:nvSpPr>
        <p:spPr>
          <a:xfrm>
            <a:off x="4671516" y="4842371"/>
            <a:ext cx="2848868" cy="350441"/>
          </a:xfrm>
          <a:prstGeom prst="roundRect">
            <a:avLst>
              <a:gd name="adj" fmla="val 50000"/>
            </a:avLst>
          </a:prstGeom>
          <a:solidFill>
            <a:srgbClr val="E3F1F2"/>
          </a:solidFill>
          <a:ln/>
        </p:spPr>
        <p:txBody>
          <a:bodyPr wrap="none" lIns="0" tIns="0" rIns="0" bIns="0" rtlCol="0" anchor="ctr">
            <a:normAutofit/>
          </a:bodyPr>
          <a:lstStyle/>
          <a:p>
            <a:pPr algn="ctr" indent="0" marL="0">
              <a:lnSpc>
                <a:spcPts val="1960"/>
              </a:lnSpc>
              <a:buNone/>
            </a:pPr>
            <a:r>
              <a:rPr lang="en-US" sz="1400" dirty="0">
                <a:solidFill>
                  <a:srgbClr val="05606A"/>
                </a:solidFill>
                <a:latin typeface="Carlito" pitchFamily="34" charset="0"/>
                <a:ea typeface="Carlito" pitchFamily="34" charset="-122"/>
                <a:cs typeface="Carlito" pitchFamily="34" charset="-120"/>
              </a:rPr>
              <a:t>Open-source modelling community</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ph type="title"/>
          </p:nvPr>
        </p:nvSpPr>
        <p:spPr>
          <a:xfrm>
            <a:off x="0" y="0"/>
            <a:ext cx="12557760"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058C98"/>
                </a:solidFill>
                <a:latin typeface="Carlito" pitchFamily="34" charset="0"/>
                <a:ea typeface="Carlito" pitchFamily="34" charset="-122"/>
                <a:cs typeface="Carlito" pitchFamily="34" charset="-120"/>
              </a:rPr>
              <a:t>Key Innovations</a:t>
            </a:r>
            <a:endParaRPr lang="en-US" sz="2800" dirty="0"/>
          </a:p>
        </p:txBody>
      </p:sp>
      <p:sp>
        <p:nvSpPr>
          <p:cNvPr id="4" name="Text 1"/>
          <p:cNvSpPr/>
          <p:nvPr/>
        </p:nvSpPr>
        <p:spPr>
          <a:xfrm>
            <a:off x="1968500" y="2514699"/>
            <a:ext cx="39243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58C98"/>
                </a:solidFill>
                <a:latin typeface="Carlito" pitchFamily="34" charset="0"/>
                <a:ea typeface="Carlito" pitchFamily="34" charset="-122"/>
                <a:cs typeface="Carlito" pitchFamily="34" charset="-120"/>
              </a:rPr>
              <a:t>OPEN-SOURCE CODE</a:t>
            </a:r>
            <a:endParaRPr lang="en-US" sz="1200" dirty="0"/>
          </a:p>
        </p:txBody>
      </p:sp>
      <p:sp>
        <p:nvSpPr>
          <p:cNvPr id="5" name="Text 2"/>
          <p:cNvSpPr/>
          <p:nvPr/>
        </p:nvSpPr>
        <p:spPr>
          <a:xfrm>
            <a:off x="1968500" y="2804220"/>
            <a:ext cx="3924300" cy="52070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A1A1A"/>
                </a:solidFill>
                <a:latin typeface="Carlito" pitchFamily="34" charset="0"/>
                <a:ea typeface="Carlito" pitchFamily="34" charset="-122"/>
                <a:cs typeface="Carlito" pitchFamily="34" charset="-120"/>
              </a:rPr>
              <a:t>124</a:t>
            </a:r>
            <a:r>
              <a:rPr lang="en-US" sz="1500" dirty="0">
                <a:solidFill>
                  <a:srgbClr val="1A1A1A"/>
                </a:solidFill>
                <a:latin typeface="Carlito" pitchFamily="34" charset="0"/>
                <a:ea typeface="Carlito" pitchFamily="34" charset="-122"/>
                <a:cs typeface="Carlito" pitchFamily="34" charset="-120"/>
              </a:rPr>
              <a:t> pull requests merged into the PyPSA ecosystem</a:t>
            </a:r>
            <a:endParaRPr lang="en-US" sz="1500" dirty="0"/>
          </a:p>
        </p:txBody>
      </p:sp>
      <p:sp>
        <p:nvSpPr>
          <p:cNvPr id="6" name="Text 3"/>
          <p:cNvSpPr/>
          <p:nvPr/>
        </p:nvSpPr>
        <p:spPr>
          <a:xfrm>
            <a:off x="1968500" y="3426520"/>
            <a:ext cx="16383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A1A1A"/>
                </a:solidFill>
                <a:latin typeface="Carlito" pitchFamily="34" charset="0"/>
                <a:ea typeface="Carlito" pitchFamily="34" charset="-122"/>
                <a:cs typeface="Carlito" pitchFamily="34" charset="-120"/>
              </a:rPr>
              <a:t>PyPSA-Eur</a:t>
            </a:r>
            <a:endParaRPr lang="en-US" sz="1300" dirty="0"/>
          </a:p>
        </p:txBody>
      </p:sp>
      <p:sp>
        <p:nvSpPr>
          <p:cNvPr id="7" name="Shape 4"/>
          <p:cNvSpPr/>
          <p:nvPr/>
        </p:nvSpPr>
        <p:spPr>
          <a:xfrm>
            <a:off x="3657600" y="3465810"/>
            <a:ext cx="1778000" cy="152400"/>
          </a:xfrm>
          <a:prstGeom prst="roundRect">
            <a:avLst>
              <a:gd name="adj" fmla="val 16667"/>
            </a:avLst>
          </a:prstGeom>
          <a:solidFill>
            <a:srgbClr val="058C98"/>
          </a:solidFill>
          <a:ln/>
        </p:spPr>
      </p:sp>
      <p:sp>
        <p:nvSpPr>
          <p:cNvPr id="8" name="Text 5"/>
          <p:cNvSpPr/>
          <p:nvPr/>
        </p:nvSpPr>
        <p:spPr>
          <a:xfrm>
            <a:off x="5537200" y="3426520"/>
            <a:ext cx="21818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A1A1A"/>
                </a:solidFill>
                <a:latin typeface="Carlito" pitchFamily="34" charset="0"/>
                <a:ea typeface="Carlito" pitchFamily="34" charset="-122"/>
                <a:cs typeface="Carlito" pitchFamily="34" charset="-120"/>
              </a:rPr>
              <a:t>73</a:t>
            </a:r>
            <a:endParaRPr lang="en-US" sz="1300" dirty="0"/>
          </a:p>
        </p:txBody>
      </p:sp>
      <p:sp>
        <p:nvSpPr>
          <p:cNvPr id="9" name="Text 6"/>
          <p:cNvSpPr/>
          <p:nvPr/>
        </p:nvSpPr>
        <p:spPr>
          <a:xfrm>
            <a:off x="1968500" y="3721100"/>
            <a:ext cx="16383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A1A1A"/>
                </a:solidFill>
                <a:latin typeface="Carlito" pitchFamily="34" charset="0"/>
                <a:ea typeface="Carlito" pitchFamily="34" charset="-122"/>
                <a:cs typeface="Carlito" pitchFamily="34" charset="-120"/>
              </a:rPr>
              <a:t>PyPSA</a:t>
            </a:r>
            <a:endParaRPr lang="en-US" sz="1300" dirty="0"/>
          </a:p>
        </p:txBody>
      </p:sp>
      <p:sp>
        <p:nvSpPr>
          <p:cNvPr id="10" name="Shape 7"/>
          <p:cNvSpPr/>
          <p:nvPr/>
        </p:nvSpPr>
        <p:spPr>
          <a:xfrm>
            <a:off x="3657600" y="3760391"/>
            <a:ext cx="1022350" cy="152400"/>
          </a:xfrm>
          <a:prstGeom prst="roundRect">
            <a:avLst>
              <a:gd name="adj" fmla="val 16667"/>
            </a:avLst>
          </a:prstGeom>
          <a:solidFill>
            <a:srgbClr val="058C98"/>
          </a:solidFill>
          <a:ln/>
        </p:spPr>
      </p:sp>
      <p:sp>
        <p:nvSpPr>
          <p:cNvPr id="11" name="Text 8"/>
          <p:cNvSpPr/>
          <p:nvPr/>
        </p:nvSpPr>
        <p:spPr>
          <a:xfrm>
            <a:off x="4781550" y="3721100"/>
            <a:ext cx="21818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A1A1A"/>
                </a:solidFill>
                <a:latin typeface="Carlito" pitchFamily="34" charset="0"/>
                <a:ea typeface="Carlito" pitchFamily="34" charset="-122"/>
                <a:cs typeface="Carlito" pitchFamily="34" charset="-120"/>
              </a:rPr>
              <a:t>42</a:t>
            </a:r>
            <a:endParaRPr lang="en-US" sz="1300" dirty="0"/>
          </a:p>
        </p:txBody>
      </p:sp>
      <p:sp>
        <p:nvSpPr>
          <p:cNvPr id="12" name="Text 9"/>
          <p:cNvSpPr/>
          <p:nvPr/>
        </p:nvSpPr>
        <p:spPr>
          <a:xfrm>
            <a:off x="1968500" y="4015680"/>
            <a:ext cx="16383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A1A1A"/>
                </a:solidFill>
                <a:latin typeface="Carlito" pitchFamily="34" charset="0"/>
                <a:ea typeface="Carlito" pitchFamily="34" charset="-122"/>
                <a:cs typeface="Carlito" pitchFamily="34" charset="-120"/>
              </a:rPr>
              <a:t>linopy</a:t>
            </a:r>
            <a:endParaRPr lang="en-US" sz="1300" dirty="0"/>
          </a:p>
        </p:txBody>
      </p:sp>
      <p:sp>
        <p:nvSpPr>
          <p:cNvPr id="13" name="Shape 10"/>
          <p:cNvSpPr/>
          <p:nvPr/>
        </p:nvSpPr>
        <p:spPr>
          <a:xfrm>
            <a:off x="3657600" y="4054971"/>
            <a:ext cx="120650" cy="152400"/>
          </a:xfrm>
          <a:prstGeom prst="roundRect">
            <a:avLst>
              <a:gd name="adj" fmla="val 21053"/>
            </a:avLst>
          </a:prstGeom>
          <a:solidFill>
            <a:srgbClr val="058C98"/>
          </a:solidFill>
          <a:ln/>
        </p:spPr>
      </p:sp>
      <p:sp>
        <p:nvSpPr>
          <p:cNvPr id="14" name="Text 11"/>
          <p:cNvSpPr/>
          <p:nvPr/>
        </p:nvSpPr>
        <p:spPr>
          <a:xfrm>
            <a:off x="3879850" y="4015680"/>
            <a:ext cx="134541"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A1A1A"/>
                </a:solidFill>
                <a:latin typeface="Carlito" pitchFamily="34" charset="0"/>
                <a:ea typeface="Carlito" pitchFamily="34" charset="-122"/>
                <a:cs typeface="Carlito" pitchFamily="34" charset="-120"/>
              </a:rPr>
              <a:t>5</a:t>
            </a:r>
            <a:endParaRPr lang="en-US" sz="1300" dirty="0"/>
          </a:p>
        </p:txBody>
      </p:sp>
      <p:sp>
        <p:nvSpPr>
          <p:cNvPr id="15" name="Text 12"/>
          <p:cNvSpPr/>
          <p:nvPr/>
        </p:nvSpPr>
        <p:spPr>
          <a:xfrm>
            <a:off x="1968500" y="4310261"/>
            <a:ext cx="16383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A1A1A"/>
                </a:solidFill>
                <a:latin typeface="Carlito" pitchFamily="34" charset="0"/>
                <a:ea typeface="Carlito" pitchFamily="34" charset="-122"/>
                <a:cs typeface="Carlito" pitchFamily="34" charset="-120"/>
              </a:rPr>
              <a:t>atlite</a:t>
            </a:r>
            <a:endParaRPr lang="en-US" sz="1300" dirty="0"/>
          </a:p>
        </p:txBody>
      </p:sp>
      <p:sp>
        <p:nvSpPr>
          <p:cNvPr id="16" name="Shape 13"/>
          <p:cNvSpPr/>
          <p:nvPr/>
        </p:nvSpPr>
        <p:spPr>
          <a:xfrm>
            <a:off x="3657600" y="4349552"/>
            <a:ext cx="50800" cy="152400"/>
          </a:xfrm>
          <a:prstGeom prst="roundRect">
            <a:avLst>
              <a:gd name="adj" fmla="val 50000"/>
            </a:avLst>
          </a:prstGeom>
          <a:solidFill>
            <a:srgbClr val="058C98"/>
          </a:solidFill>
          <a:ln/>
        </p:spPr>
      </p:sp>
      <p:sp>
        <p:nvSpPr>
          <p:cNvPr id="17" name="Text 14"/>
          <p:cNvSpPr/>
          <p:nvPr/>
        </p:nvSpPr>
        <p:spPr>
          <a:xfrm>
            <a:off x="3810000" y="4310261"/>
            <a:ext cx="134541"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A1A1A"/>
                </a:solidFill>
                <a:latin typeface="Carlito" pitchFamily="34" charset="0"/>
                <a:ea typeface="Carlito" pitchFamily="34" charset="-122"/>
                <a:cs typeface="Carlito" pitchFamily="34" charset="-120"/>
              </a:rPr>
              <a:t>2</a:t>
            </a:r>
            <a:endParaRPr lang="en-US" sz="1300" dirty="0"/>
          </a:p>
        </p:txBody>
      </p:sp>
      <p:sp>
        <p:nvSpPr>
          <p:cNvPr id="18" name="Text 15"/>
          <p:cNvSpPr/>
          <p:nvPr/>
        </p:nvSpPr>
        <p:spPr>
          <a:xfrm>
            <a:off x="1968500" y="4604841"/>
            <a:ext cx="16383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A1A1A"/>
                </a:solidFill>
                <a:latin typeface="Carlito" pitchFamily="34" charset="0"/>
                <a:ea typeface="Carlito" pitchFamily="34" charset="-122"/>
                <a:cs typeface="Carlito" pitchFamily="34" charset="-120"/>
              </a:rPr>
              <a:t>powerplantmatching</a:t>
            </a:r>
            <a:endParaRPr lang="en-US" sz="1300" dirty="0"/>
          </a:p>
        </p:txBody>
      </p:sp>
      <p:sp>
        <p:nvSpPr>
          <p:cNvPr id="19" name="Shape 16"/>
          <p:cNvSpPr/>
          <p:nvPr/>
        </p:nvSpPr>
        <p:spPr>
          <a:xfrm>
            <a:off x="3657600" y="4644132"/>
            <a:ext cx="50800" cy="152400"/>
          </a:xfrm>
          <a:prstGeom prst="roundRect">
            <a:avLst>
              <a:gd name="adj" fmla="val 50000"/>
            </a:avLst>
          </a:prstGeom>
          <a:solidFill>
            <a:srgbClr val="058C98"/>
          </a:solidFill>
          <a:ln/>
        </p:spPr>
      </p:sp>
      <p:sp>
        <p:nvSpPr>
          <p:cNvPr id="20" name="Text 17"/>
          <p:cNvSpPr/>
          <p:nvPr/>
        </p:nvSpPr>
        <p:spPr>
          <a:xfrm>
            <a:off x="3810000" y="4604841"/>
            <a:ext cx="134541"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A1A1A"/>
                </a:solidFill>
                <a:latin typeface="Carlito" pitchFamily="34" charset="0"/>
                <a:ea typeface="Carlito" pitchFamily="34" charset="-122"/>
                <a:cs typeface="Carlito" pitchFamily="34" charset="-120"/>
              </a:rPr>
              <a:t>2</a:t>
            </a:r>
            <a:endParaRPr lang="en-US" sz="1300" dirty="0"/>
          </a:p>
        </p:txBody>
      </p:sp>
      <p:sp>
        <p:nvSpPr>
          <p:cNvPr id="21" name="Shape 18"/>
          <p:cNvSpPr/>
          <p:nvPr/>
        </p:nvSpPr>
        <p:spPr>
          <a:xfrm>
            <a:off x="6134100" y="2514699"/>
            <a:ext cx="1993900" cy="970161"/>
          </a:xfrm>
          <a:prstGeom prst="roundRect">
            <a:avLst>
              <a:gd name="adj" fmla="val 7854"/>
            </a:avLst>
          </a:prstGeom>
          <a:solidFill>
            <a:srgbClr val="F1F6F6"/>
          </a:solidFill>
          <a:ln/>
        </p:spPr>
      </p:sp>
      <p:sp>
        <p:nvSpPr>
          <p:cNvPr id="22" name="Shape 19"/>
          <p:cNvSpPr/>
          <p:nvPr/>
        </p:nvSpPr>
        <p:spPr>
          <a:xfrm>
            <a:off x="6134100" y="2514699"/>
            <a:ext cx="1993900" cy="970161"/>
          </a:xfrm>
          <a:custGeom>
            <a:avLst/>
            <a:gdLst/>
            <a:ahLst/>
            <a:cxnLst/>
            <a:rect l="l" t="t" r="r" b="b"/>
            <a:pathLst>
              <a:path w="1993900" h="970161">
                <a:moveTo>
                  <a:pt x="0" y="76200"/>
                </a:moveTo>
                <a:lnTo>
                  <a:pt x="0" y="76200"/>
                </a:lnTo>
                <a:arcTo hR="76200" wR="76200" stAng="10800000" swAng="5400000"/>
                <a:lnTo>
                  <a:pt x="1917700" y="0"/>
                </a:lnTo>
                <a:arcTo hR="76200" wR="76200" stAng="16200000" swAng="5400000"/>
                <a:lnTo>
                  <a:pt x="1993900" y="76200"/>
                </a:lnTo>
                <a:arcTo hR="38100" wR="76200" stAng="0" swAng="-5400000"/>
                <a:lnTo>
                  <a:pt x="76200" y="38100"/>
                </a:lnTo>
                <a:arcTo hR="38100" wR="76200" stAng="16200000" swAng="-5400000"/>
                <a:close/>
              </a:path>
            </a:pathLst>
          </a:custGeom>
          <a:solidFill>
            <a:srgbClr val="3AAD51"/>
          </a:solidFill>
          <a:ln/>
        </p:spPr>
      </p:sp>
      <p:sp>
        <p:nvSpPr>
          <p:cNvPr id="23" name="Text 20"/>
          <p:cNvSpPr/>
          <p:nvPr/>
        </p:nvSpPr>
        <p:spPr>
          <a:xfrm>
            <a:off x="6286500" y="2679799"/>
            <a:ext cx="1739900"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A1A1A"/>
                </a:solidFill>
                <a:latin typeface="Carlito" pitchFamily="34" charset="0"/>
                <a:ea typeface="Carlito" pitchFamily="34" charset="-122"/>
                <a:cs typeface="Carlito" pitchFamily="34" charset="-120"/>
              </a:rPr>
              <a:t>Stochastic optimisation &amp; CVaR</a:t>
            </a:r>
            <a:endParaRPr lang="en-US" sz="1400" dirty="0"/>
          </a:p>
        </p:txBody>
      </p:sp>
      <p:sp>
        <p:nvSpPr>
          <p:cNvPr id="24" name="Text 21"/>
          <p:cNvSpPr/>
          <p:nvPr/>
        </p:nvSpPr>
        <p:spPr>
          <a:xfrm>
            <a:off x="6286500" y="3144540"/>
            <a:ext cx="17399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Carlito" pitchFamily="34" charset="0"/>
                <a:ea typeface="Carlito" pitchFamily="34" charset="-122"/>
                <a:cs typeface="Carlito" pitchFamily="34" charset="-120"/>
              </a:rPr>
              <a:t>in PyPSA v1.0</a:t>
            </a:r>
            <a:endParaRPr lang="en-US" sz="1200" dirty="0"/>
          </a:p>
        </p:txBody>
      </p:sp>
      <p:sp>
        <p:nvSpPr>
          <p:cNvPr id="25" name="Shape 22"/>
          <p:cNvSpPr/>
          <p:nvPr/>
        </p:nvSpPr>
        <p:spPr>
          <a:xfrm>
            <a:off x="8229600" y="2514699"/>
            <a:ext cx="1993900" cy="970161"/>
          </a:xfrm>
          <a:prstGeom prst="roundRect">
            <a:avLst>
              <a:gd name="adj" fmla="val 7854"/>
            </a:avLst>
          </a:prstGeom>
          <a:solidFill>
            <a:srgbClr val="F1F6F6"/>
          </a:solidFill>
          <a:ln/>
        </p:spPr>
      </p:sp>
      <p:sp>
        <p:nvSpPr>
          <p:cNvPr id="26" name="Shape 23"/>
          <p:cNvSpPr/>
          <p:nvPr/>
        </p:nvSpPr>
        <p:spPr>
          <a:xfrm>
            <a:off x="8229600" y="2514699"/>
            <a:ext cx="1993900" cy="970161"/>
          </a:xfrm>
          <a:custGeom>
            <a:avLst/>
            <a:gdLst/>
            <a:ahLst/>
            <a:cxnLst/>
            <a:rect l="l" t="t" r="r" b="b"/>
            <a:pathLst>
              <a:path w="1993900" h="970161">
                <a:moveTo>
                  <a:pt x="0" y="76200"/>
                </a:moveTo>
                <a:lnTo>
                  <a:pt x="0" y="76200"/>
                </a:lnTo>
                <a:arcTo hR="76200" wR="76200" stAng="10800000" swAng="5400000"/>
                <a:lnTo>
                  <a:pt x="1917700" y="0"/>
                </a:lnTo>
                <a:arcTo hR="76200" wR="76200" stAng="16200000" swAng="5400000"/>
                <a:lnTo>
                  <a:pt x="1993900" y="76200"/>
                </a:lnTo>
                <a:arcTo hR="38100" wR="76200" stAng="0" swAng="-5400000"/>
                <a:lnTo>
                  <a:pt x="76200" y="38100"/>
                </a:lnTo>
                <a:arcTo hR="38100" wR="76200" stAng="16200000" swAng="-5400000"/>
                <a:close/>
              </a:path>
            </a:pathLst>
          </a:custGeom>
          <a:solidFill>
            <a:srgbClr val="3AAD51"/>
          </a:solidFill>
          <a:ln/>
        </p:spPr>
      </p:sp>
      <p:sp>
        <p:nvSpPr>
          <p:cNvPr id="27" name="Text 24"/>
          <p:cNvSpPr/>
          <p:nvPr/>
        </p:nvSpPr>
        <p:spPr>
          <a:xfrm>
            <a:off x="8382000" y="2679799"/>
            <a:ext cx="17399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A1A1A"/>
                </a:solidFill>
                <a:latin typeface="Carlito" pitchFamily="34" charset="0"/>
                <a:ea typeface="Carlito" pitchFamily="34" charset="-122"/>
                <a:cs typeface="Carlito" pitchFamily="34" charset="-120"/>
              </a:rPr>
              <a:t>Model dualisation</a:t>
            </a:r>
            <a:endParaRPr lang="en-US" sz="1400" dirty="0"/>
          </a:p>
        </p:txBody>
      </p:sp>
      <p:sp>
        <p:nvSpPr>
          <p:cNvPr id="28" name="Text 25"/>
          <p:cNvSpPr/>
          <p:nvPr/>
        </p:nvSpPr>
        <p:spPr>
          <a:xfrm>
            <a:off x="8382000" y="2931220"/>
            <a:ext cx="17399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Carlito" pitchFamily="34" charset="0"/>
                <a:ea typeface="Carlito" pitchFamily="34" charset="-122"/>
                <a:cs typeface="Carlito" pitchFamily="34" charset="-120"/>
              </a:rPr>
              <a:t>linopy v0.8</a:t>
            </a:r>
            <a:endParaRPr lang="en-US" sz="1200" dirty="0"/>
          </a:p>
        </p:txBody>
      </p:sp>
      <p:sp>
        <p:nvSpPr>
          <p:cNvPr id="29" name="Shape 26"/>
          <p:cNvSpPr/>
          <p:nvPr/>
        </p:nvSpPr>
        <p:spPr>
          <a:xfrm>
            <a:off x="6134100" y="3586460"/>
            <a:ext cx="1993900" cy="970161"/>
          </a:xfrm>
          <a:prstGeom prst="roundRect">
            <a:avLst>
              <a:gd name="adj" fmla="val 7854"/>
            </a:avLst>
          </a:prstGeom>
          <a:solidFill>
            <a:srgbClr val="F1F6F6"/>
          </a:solidFill>
          <a:ln/>
        </p:spPr>
      </p:sp>
      <p:sp>
        <p:nvSpPr>
          <p:cNvPr id="30" name="Shape 27"/>
          <p:cNvSpPr/>
          <p:nvPr/>
        </p:nvSpPr>
        <p:spPr>
          <a:xfrm>
            <a:off x="6134100" y="3586460"/>
            <a:ext cx="1993900" cy="970161"/>
          </a:xfrm>
          <a:custGeom>
            <a:avLst/>
            <a:gdLst/>
            <a:ahLst/>
            <a:cxnLst/>
            <a:rect l="l" t="t" r="r" b="b"/>
            <a:pathLst>
              <a:path w="1993900" h="970161">
                <a:moveTo>
                  <a:pt x="0" y="76200"/>
                </a:moveTo>
                <a:lnTo>
                  <a:pt x="0" y="76200"/>
                </a:lnTo>
                <a:arcTo hR="76200" wR="76200" stAng="10800000" swAng="5400000"/>
                <a:lnTo>
                  <a:pt x="1917700" y="0"/>
                </a:lnTo>
                <a:arcTo hR="76200" wR="76200" stAng="16200000" swAng="5400000"/>
                <a:lnTo>
                  <a:pt x="1993900" y="76200"/>
                </a:lnTo>
                <a:arcTo hR="38100" wR="76200" stAng="0" swAng="-5400000"/>
                <a:lnTo>
                  <a:pt x="76200" y="38100"/>
                </a:lnTo>
                <a:arcTo hR="38100" wR="76200" stAng="16200000" swAng="-5400000"/>
                <a:close/>
              </a:path>
            </a:pathLst>
          </a:custGeom>
          <a:solidFill>
            <a:srgbClr val="3AAD51"/>
          </a:solidFill>
          <a:ln/>
        </p:spPr>
      </p:sp>
      <p:sp>
        <p:nvSpPr>
          <p:cNvPr id="31" name="Text 28"/>
          <p:cNvSpPr/>
          <p:nvPr/>
        </p:nvSpPr>
        <p:spPr>
          <a:xfrm>
            <a:off x="6286500" y="3751560"/>
            <a:ext cx="18415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A1A1A"/>
                </a:solidFill>
                <a:latin typeface="Carlito" pitchFamily="34" charset="0"/>
                <a:ea typeface="Carlito" pitchFamily="34" charset="-122"/>
                <a:cs typeface="Carlito" pitchFamily="34" charset="-120"/>
              </a:rPr>
              <a:t>Open high-voltage grid</a:t>
            </a:r>
            <a:endParaRPr lang="en-US" sz="1400" dirty="0"/>
          </a:p>
        </p:txBody>
      </p:sp>
      <p:sp>
        <p:nvSpPr>
          <p:cNvPr id="32" name="Text 29"/>
          <p:cNvSpPr/>
          <p:nvPr/>
        </p:nvSpPr>
        <p:spPr>
          <a:xfrm>
            <a:off x="6286500" y="4002980"/>
            <a:ext cx="17399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Carlito" pitchFamily="34" charset="0"/>
                <a:ea typeface="Carlito" pitchFamily="34" charset="-122"/>
                <a:cs typeface="Carlito" pitchFamily="34" charset="-120"/>
              </a:rPr>
              <a:t>from OpenStreetMap · Scientific Data 2025</a:t>
            </a:r>
            <a:endParaRPr lang="en-US" sz="1200" dirty="0"/>
          </a:p>
        </p:txBody>
      </p:sp>
      <p:sp>
        <p:nvSpPr>
          <p:cNvPr id="33" name="Shape 30"/>
          <p:cNvSpPr/>
          <p:nvPr/>
        </p:nvSpPr>
        <p:spPr>
          <a:xfrm>
            <a:off x="8229600" y="3586460"/>
            <a:ext cx="1993900" cy="970161"/>
          </a:xfrm>
          <a:prstGeom prst="roundRect">
            <a:avLst>
              <a:gd name="adj" fmla="val 7854"/>
            </a:avLst>
          </a:prstGeom>
          <a:solidFill>
            <a:srgbClr val="F1F6F6"/>
          </a:solidFill>
          <a:ln/>
        </p:spPr>
      </p:sp>
      <p:sp>
        <p:nvSpPr>
          <p:cNvPr id="34" name="Shape 31"/>
          <p:cNvSpPr/>
          <p:nvPr/>
        </p:nvSpPr>
        <p:spPr>
          <a:xfrm>
            <a:off x="8229600" y="3586460"/>
            <a:ext cx="1993900" cy="970161"/>
          </a:xfrm>
          <a:custGeom>
            <a:avLst/>
            <a:gdLst/>
            <a:ahLst/>
            <a:cxnLst/>
            <a:rect l="l" t="t" r="r" b="b"/>
            <a:pathLst>
              <a:path w="1993900" h="970161">
                <a:moveTo>
                  <a:pt x="0" y="76200"/>
                </a:moveTo>
                <a:lnTo>
                  <a:pt x="0" y="76200"/>
                </a:lnTo>
                <a:arcTo hR="76200" wR="76200" stAng="10800000" swAng="5400000"/>
                <a:lnTo>
                  <a:pt x="1917700" y="0"/>
                </a:lnTo>
                <a:arcTo hR="76200" wR="76200" stAng="16200000" swAng="5400000"/>
                <a:lnTo>
                  <a:pt x="1993900" y="76200"/>
                </a:lnTo>
                <a:arcTo hR="38100" wR="76200" stAng="0" swAng="-5400000"/>
                <a:lnTo>
                  <a:pt x="76200" y="38100"/>
                </a:lnTo>
                <a:arcTo hR="38100" wR="76200" stAng="16200000" swAng="-5400000"/>
                <a:close/>
              </a:path>
            </a:pathLst>
          </a:custGeom>
          <a:solidFill>
            <a:srgbClr val="3AAD51"/>
          </a:solidFill>
          <a:ln/>
        </p:spPr>
      </p:sp>
      <p:sp>
        <p:nvSpPr>
          <p:cNvPr id="35" name="Text 32"/>
          <p:cNvSpPr/>
          <p:nvPr/>
        </p:nvSpPr>
        <p:spPr>
          <a:xfrm>
            <a:off x="8382000" y="3751560"/>
            <a:ext cx="18415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A1A1A"/>
                </a:solidFill>
                <a:latin typeface="Carlito" pitchFamily="34" charset="0"/>
                <a:ea typeface="Carlito" pitchFamily="34" charset="-122"/>
                <a:cs typeface="Carlito" pitchFamily="34" charset="-120"/>
              </a:rPr>
              <a:t>Industrial process heat</a:t>
            </a:r>
            <a:endParaRPr lang="en-US" sz="1400" dirty="0"/>
          </a:p>
        </p:txBody>
      </p:sp>
      <p:sp>
        <p:nvSpPr>
          <p:cNvPr id="36" name="Text 33"/>
          <p:cNvSpPr/>
          <p:nvPr/>
        </p:nvSpPr>
        <p:spPr>
          <a:xfrm>
            <a:off x="8382000" y="4002980"/>
            <a:ext cx="17399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Carlito" pitchFamily="34" charset="0"/>
                <a:ea typeface="Carlito" pitchFamily="34" charset="-122"/>
                <a:cs typeface="Carlito" pitchFamily="34" charset="-120"/>
              </a:rPr>
              <a:t>endogenous in PyPSA-Eur</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ph type="title"/>
          </p:nvPr>
        </p:nvSpPr>
        <p:spPr>
          <a:xfrm>
            <a:off x="0" y="0"/>
            <a:ext cx="12557760"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058C98"/>
                </a:solidFill>
                <a:latin typeface="Carlito" pitchFamily="34" charset="0"/>
                <a:ea typeface="Carlito" pitchFamily="34" charset="-122"/>
                <a:cs typeface="Carlito" pitchFamily="34" charset="-120"/>
              </a:rPr>
              <a:t>Expected Results: Pricing Energy Security</a:t>
            </a:r>
            <a:endParaRPr lang="en-US" sz="2800" dirty="0"/>
          </a:p>
        </p:txBody>
      </p:sp>
      <p:sp>
        <p:nvSpPr>
          <p:cNvPr id="4" name="Text 1"/>
          <p:cNvSpPr/>
          <p:nvPr/>
        </p:nvSpPr>
        <p:spPr>
          <a:xfrm>
            <a:off x="0" y="492720"/>
            <a:ext cx="1255776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5B6B70"/>
                </a:solidFill>
                <a:latin typeface="Carlito" pitchFamily="34" charset="0"/>
                <a:ea typeface="Carlito" pitchFamily="34" charset="-122"/>
                <a:cs typeface="Carlito" pitchFamily="34" charset="-120"/>
              </a:rPr>
              <a:t>Quantifying the trade-off between energy security and energy costs</a:t>
            </a:r>
            <a:endParaRPr lang="en-US" sz="1500" dirty="0"/>
          </a:p>
        </p:txBody>
      </p:sp>
      <p:pic>
        <p:nvPicPr>
          <p:cNvPr id="5" name="Image 1" descr="Gas abatement curve: total European system cost with and without ETS payments against total fossil gas supply from 0 to 450 bcm, with Autarky (200 bcm), No-LNG (275 bcm) and today’s demand marked">    </p:cNvPr>
          <p:cNvPicPr>
            <a:picLocks noChangeAspect="1"/>
          </p:cNvPicPr>
          <p:nvPr/>
        </p:nvPicPr>
        <p:blipFill>
          <a:blip r:embed="rId2"/>
          <a:srcRect l="0" r="0" t="-19" b="-19"/>
          <a:stretch/>
        </p:blipFill>
        <p:spPr>
          <a:xfrm>
            <a:off x="2273300" y="1627485"/>
            <a:ext cx="7645400" cy="4445000"/>
          </a:xfrm>
          <a:prstGeom prst="rect">
            <a:avLst/>
          </a:prstGeom>
        </p:spPr>
      </p:pic>
      <p:sp>
        <p:nvSpPr>
          <p:cNvPr id="6" name="Text 2"/>
          <p:cNvSpPr/>
          <p:nvPr/>
        </p:nvSpPr>
        <p:spPr>
          <a:xfrm>
            <a:off x="762000" y="6365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Carlito" pitchFamily="34" charset="0"/>
                <a:ea typeface="Carlito" pitchFamily="34" charset="-122"/>
                <a:cs typeface="Carlito" pitchFamily="34" charset="-120"/>
              </a:rPr>
              <a:t>European system cost vs. fossil gas supply · 100 €/tCO₂ · Franken, Riepin &amp; Brown (2026)</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ph type="title"/>
          </p:nvPr>
        </p:nvSpPr>
        <p:spPr>
          <a:xfrm>
            <a:off x="0" y="0"/>
            <a:ext cx="12557760"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058C98"/>
                </a:solidFill>
                <a:latin typeface="Carlito" pitchFamily="34" charset="0"/>
                <a:ea typeface="Carlito" pitchFamily="34" charset="-122"/>
                <a:cs typeface="Carlito" pitchFamily="34" charset="-120"/>
              </a:rPr>
              <a:t>The PyPSA-Eur Model</a:t>
            </a:r>
            <a:endParaRPr lang="en-US" sz="2800" dirty="0"/>
          </a:p>
        </p:txBody>
      </p:sp>
      <p:sp>
        <p:nvSpPr>
          <p:cNvPr id="4" name="Text 1"/>
          <p:cNvSpPr/>
          <p:nvPr/>
        </p:nvSpPr>
        <p:spPr>
          <a:xfrm>
            <a:off x="2864247" y="1785640"/>
            <a:ext cx="972145" cy="350441"/>
          </a:xfrm>
          <a:prstGeom prst="roundRect">
            <a:avLst>
              <a:gd name="adj" fmla="val 50000"/>
            </a:avLst>
          </a:prstGeom>
          <a:solidFill>
            <a:srgbClr val="058C98"/>
          </a:solidFill>
          <a:ln/>
        </p:spPr>
        <p:txBody>
          <a:bodyPr wrap="none" lIns="0" tIns="0" rIns="0" bIns="0" rtlCol="0" anchor="ctr">
            <a:normAutofit/>
          </a:bodyPr>
          <a:lstStyle/>
          <a:p>
            <a:pPr algn="ctr" indent="0" marL="0">
              <a:lnSpc>
                <a:spcPts val="1960"/>
              </a:lnSpc>
              <a:buNone/>
            </a:pPr>
            <a:r>
              <a:rPr lang="en-US" sz="1400" b="1" dirty="0">
                <a:solidFill>
                  <a:srgbClr val="FFFFFF"/>
                </a:solidFill>
                <a:latin typeface="Carlito" pitchFamily="34" charset="0"/>
                <a:ea typeface="Carlito" pitchFamily="34" charset="-122"/>
                <a:cs typeface="Carlito" pitchFamily="34" charset="-120"/>
              </a:rPr>
              <a:t>50 nodes</a:t>
            </a:r>
            <a:endParaRPr lang="en-US" sz="1400" dirty="0"/>
          </a:p>
        </p:txBody>
      </p:sp>
      <p:sp>
        <p:nvSpPr>
          <p:cNvPr id="5" name="Text 2"/>
          <p:cNvSpPr/>
          <p:nvPr/>
        </p:nvSpPr>
        <p:spPr>
          <a:xfrm>
            <a:off x="3937992" y="1785640"/>
            <a:ext cx="926902" cy="350441"/>
          </a:xfrm>
          <a:prstGeom prst="roundRect">
            <a:avLst>
              <a:gd name="adj" fmla="val 50000"/>
            </a:avLst>
          </a:prstGeom>
          <a:solidFill>
            <a:srgbClr val="058C98"/>
          </a:solidFill>
          <a:ln/>
        </p:spPr>
        <p:txBody>
          <a:bodyPr wrap="none" lIns="0" tIns="0" rIns="0" bIns="0" rtlCol="0" anchor="ctr">
            <a:normAutofit/>
          </a:bodyPr>
          <a:lstStyle/>
          <a:p>
            <a:pPr algn="ctr" indent="0" marL="0">
              <a:lnSpc>
                <a:spcPts val="1960"/>
              </a:lnSpc>
              <a:buNone/>
            </a:pPr>
            <a:r>
              <a:rPr lang="en-US" sz="1400" b="1" dirty="0">
                <a:solidFill>
                  <a:srgbClr val="FFFFFF"/>
                </a:solidFill>
                <a:latin typeface="Carlito" pitchFamily="34" charset="0"/>
                <a:ea typeface="Carlito" pitchFamily="34" charset="-122"/>
                <a:cs typeface="Carlito" pitchFamily="34" charset="-120"/>
              </a:rPr>
              <a:t>3-hourly</a:t>
            </a:r>
            <a:endParaRPr lang="en-US" sz="1400" dirty="0"/>
          </a:p>
        </p:txBody>
      </p:sp>
      <p:sp>
        <p:nvSpPr>
          <p:cNvPr id="6" name="Text 3"/>
          <p:cNvSpPr/>
          <p:nvPr/>
        </p:nvSpPr>
        <p:spPr>
          <a:xfrm>
            <a:off x="4966494" y="1785640"/>
            <a:ext cx="4361259" cy="350441"/>
          </a:xfrm>
          <a:prstGeom prst="roundRect">
            <a:avLst>
              <a:gd name="adj" fmla="val 50000"/>
            </a:avLst>
          </a:prstGeom>
          <a:solidFill>
            <a:srgbClr val="E3F1F2"/>
          </a:solidFill>
          <a:ln/>
        </p:spPr>
        <p:txBody>
          <a:bodyPr wrap="none" lIns="0" tIns="0" rIns="0" bIns="0" rtlCol="0" anchor="ctr">
            <a:normAutofit/>
          </a:bodyPr>
          <a:lstStyle/>
          <a:p>
            <a:pPr algn="ctr" indent="0" marL="0">
              <a:lnSpc>
                <a:spcPts val="1960"/>
              </a:lnSpc>
              <a:buNone/>
            </a:pPr>
            <a:r>
              <a:rPr lang="en-US" sz="1400" dirty="0">
                <a:solidFill>
                  <a:srgbClr val="05606A"/>
                </a:solidFill>
                <a:latin typeface="Carlito" pitchFamily="34" charset="0"/>
                <a:ea typeface="Carlito" pitchFamily="34" charset="-122"/>
                <a:cs typeface="Carlito" pitchFamily="34" charset="-120"/>
              </a:rPr>
              <a:t>power · heat · industry · transport · biomass · agriculture</a:t>
            </a:r>
            <a:endParaRPr lang="en-US" sz="1400" dirty="0"/>
          </a:p>
        </p:txBody>
      </p:sp>
      <p:pic>
        <p:nvPicPr>
          <p:cNvPr id="7" name="Image 1" descr="Map of the PyPSA-Eur network for Europe with transmission lines and power plants">    </p:cNvPr>
          <p:cNvPicPr>
            <a:picLocks noChangeAspect="1"/>
          </p:cNvPicPr>
          <p:nvPr/>
        </p:nvPicPr>
        <p:blipFill>
          <a:blip r:embed="rId2"/>
          <a:srcRect l="0" r="0" t="-28" b="-28"/>
          <a:stretch/>
        </p:blipFill>
        <p:spPr>
          <a:xfrm>
            <a:off x="1631950" y="2390080"/>
            <a:ext cx="4006850" cy="3175000"/>
          </a:xfrm>
          <a:prstGeom prst="rect">
            <a:avLst/>
          </a:prstGeom>
        </p:spPr>
      </p:pic>
      <p:pic>
        <p:nvPicPr>
          <p:cNvPr id="8" name="Image 2" descr="Heat supply and demand over one year in PyPSA-Eur, scenario with 2,000 TWh total gas consumption">    </p:cNvPr>
          <p:cNvPicPr>
            <a:picLocks noChangeAspect="1"/>
          </p:cNvPicPr>
          <p:nvPr/>
        </p:nvPicPr>
        <p:blipFill>
          <a:blip r:embed="rId3"/>
          <a:srcRect l="0" r="0" t="-56" b="-56"/>
          <a:stretch/>
        </p:blipFill>
        <p:spPr>
          <a:xfrm>
            <a:off x="5842000" y="2923480"/>
            <a:ext cx="4718050" cy="21082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58C9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38200" y="1587500"/>
            <a:ext cx="5624830" cy="274241"/>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D8F1F3"/>
                </a:solidFill>
                <a:latin typeface="Carlito" pitchFamily="34" charset="0"/>
                <a:ea typeface="Carlito" pitchFamily="34" charset="-122"/>
                <a:cs typeface="Carlito" pitchFamily="34" charset="-120"/>
              </a:rPr>
              <a:t>WORKING PAPER · ARXIV, JULY 2026</a:t>
            </a:r>
            <a:endParaRPr lang="en-US" sz="1400" dirty="0"/>
          </a:p>
        </p:txBody>
      </p:sp>
      <p:sp>
        <p:nvSpPr>
          <p:cNvPr id="4" name="Text 1"/>
          <p:cNvSpPr/>
          <p:nvPr>
            <p:ph type="title"/>
          </p:nvPr>
        </p:nvSpPr>
        <p:spPr>
          <a:xfrm>
            <a:off x="838200" y="1968500"/>
            <a:ext cx="5624830" cy="2036961"/>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FFFFF"/>
                </a:solidFill>
                <a:latin typeface="Carlito" pitchFamily="34" charset="0"/>
                <a:ea typeface="Carlito" pitchFamily="34" charset="-122"/>
                <a:cs typeface="Carlito" pitchFamily="34" charset="-120"/>
              </a:rPr>
              <a:t>Accelerating fossil gas independence in Europe</a:t>
            </a:r>
            <a:endParaRPr lang="en-US" sz="4800" dirty="0"/>
          </a:p>
        </p:txBody>
      </p:sp>
      <p:sp>
        <p:nvSpPr>
          <p:cNvPr id="5" name="Text 2"/>
          <p:cNvSpPr/>
          <p:nvPr/>
        </p:nvSpPr>
        <p:spPr>
          <a:xfrm>
            <a:off x="838200" y="4318000"/>
            <a:ext cx="562483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FFFFF"/>
                </a:solidFill>
                <a:latin typeface="Carlito" pitchFamily="34" charset="0"/>
                <a:ea typeface="Carlito" pitchFamily="34" charset="-122"/>
                <a:cs typeface="Carlito" pitchFamily="34" charset="-120"/>
              </a:rPr>
              <a:t>Lukas Franken · Iegor Riepin · Tom Brown</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ph type="title"/>
          </p:nvPr>
        </p:nvSpPr>
        <p:spPr>
          <a:xfrm>
            <a:off x="0" y="0"/>
            <a:ext cx="12557760"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058C98"/>
                </a:solidFill>
                <a:latin typeface="Carlito" pitchFamily="34" charset="0"/>
                <a:ea typeface="Carlito" pitchFamily="34" charset="-122"/>
                <a:cs typeface="Carlito" pitchFamily="34" charset="-120"/>
              </a:rPr>
              <a:t>Europe’s Gas Today</a:t>
            </a:r>
            <a:endParaRPr lang="en-US" sz="2800" dirty="0"/>
          </a:p>
        </p:txBody>
      </p:sp>
      <p:sp>
        <p:nvSpPr>
          <p:cNvPr id="4" name="Text 1"/>
          <p:cNvSpPr/>
          <p:nvPr/>
        </p:nvSpPr>
        <p:spPr>
          <a:xfrm>
            <a:off x="0" y="492720"/>
            <a:ext cx="1255776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5B6B70"/>
                </a:solidFill>
                <a:latin typeface="Carlito" pitchFamily="34" charset="0"/>
                <a:ea typeface="Carlito" pitchFamily="34" charset="-122"/>
                <a:cs typeface="Carlito" pitchFamily="34" charset="-120"/>
              </a:rPr>
              <a:t>Roughly a third each to power, buildings and industry; Europe’s own production covers ~200 bcm</a:t>
            </a:r>
            <a:endParaRPr lang="en-US" sz="1500" dirty="0"/>
          </a:p>
        </p:txBody>
      </p:sp>
      <p:pic>
        <p:nvPicPr>
          <p:cNvPr id="5" name="Image 1" descr="a: map of European gas infrastructure, domestic production, pipeline imports and LNG terminals; b: 2024 European gas balance by source, consuming country, sector and future supply">    </p:cNvPr>
          <p:cNvPicPr>
            <a:picLocks noChangeAspect="1"/>
          </p:cNvPicPr>
          <p:nvPr/>
        </p:nvPicPr>
        <p:blipFill>
          <a:blip r:embed="rId2"/>
          <a:srcRect l="-18" r="-18" t="0" b="0"/>
          <a:stretch/>
        </p:blipFill>
        <p:spPr>
          <a:xfrm>
            <a:off x="1651000" y="1862435"/>
            <a:ext cx="8890000" cy="3975100"/>
          </a:xfrm>
          <a:prstGeom prst="rect">
            <a:avLst/>
          </a:prstGeom>
        </p:spPr>
      </p:pic>
      <p:sp>
        <p:nvSpPr>
          <p:cNvPr id="6" name="Text 2"/>
          <p:cNvSpPr/>
          <p:nvPr/>
        </p:nvSpPr>
        <p:spPr>
          <a:xfrm>
            <a:off x="762000" y="6365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Carlito" pitchFamily="34" charset="0"/>
                <a:ea typeface="Carlito" pitchFamily="34" charset="-122"/>
                <a:cs typeface="Carlito" pitchFamily="34" charset="-120"/>
              </a:rPr>
              <a:t>Data: Eurostat (2024), OIES, Hotmaps, OpenStreetMap · Franken, Riepin &amp; Brown (2026)</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ph type="title"/>
          </p:nvPr>
        </p:nvSpPr>
        <p:spPr>
          <a:xfrm>
            <a:off x="0" y="0"/>
            <a:ext cx="12557760"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058C98"/>
                </a:solidFill>
                <a:latin typeface="Carlito" pitchFamily="34" charset="0"/>
                <a:ea typeface="Carlito" pitchFamily="34" charset="-122"/>
                <a:cs typeface="Carlito" pitchFamily="34" charset="-120"/>
              </a:rPr>
              <a:t>The Gas Abatement Curve</a:t>
            </a:r>
            <a:endParaRPr lang="en-US" sz="2800" dirty="0"/>
          </a:p>
        </p:txBody>
      </p:sp>
      <p:sp>
        <p:nvSpPr>
          <p:cNvPr id="4" name="Text 1"/>
          <p:cNvSpPr/>
          <p:nvPr/>
        </p:nvSpPr>
        <p:spPr>
          <a:xfrm>
            <a:off x="0" y="492720"/>
            <a:ext cx="1255776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5B6B70"/>
                </a:solidFill>
                <a:latin typeface="Carlito" pitchFamily="34" charset="0"/>
                <a:ea typeface="Carlito" pitchFamily="34" charset="-122"/>
                <a:cs typeface="Carlito" pitchFamily="34" charset="-120"/>
              </a:rPr>
              <a:t>No-LNG: +5 bn€/a · Autarky: +16 bn€/a, under 2 % of system cost (excl. ETS payments)</a:t>
            </a:r>
            <a:endParaRPr lang="en-US" sz="1500" dirty="0"/>
          </a:p>
        </p:txBody>
      </p:sp>
      <p:pic>
        <p:nvPicPr>
          <p:cNvPr id="5" name="Image 1" descr="Gas abatement curve: total European system cost with and without ETS payments against total fossil gas supply from 0 to 450 bcm, with Autarky (200 bcm), No-LNG (275 bcm) and today’s demand marked">    </p:cNvPr>
          <p:cNvPicPr>
            <a:picLocks noChangeAspect="1"/>
          </p:cNvPicPr>
          <p:nvPr/>
        </p:nvPicPr>
        <p:blipFill>
          <a:blip r:embed="rId2"/>
          <a:srcRect l="0" r="0" t="-19" b="-19"/>
          <a:stretch/>
        </p:blipFill>
        <p:spPr>
          <a:xfrm>
            <a:off x="2273300" y="1627485"/>
            <a:ext cx="7645400" cy="4445000"/>
          </a:xfrm>
          <a:prstGeom prst="rect">
            <a:avLst/>
          </a:prstGeom>
        </p:spPr>
      </p:pic>
      <p:sp>
        <p:nvSpPr>
          <p:cNvPr id="6" name="Text 2"/>
          <p:cNvSpPr/>
          <p:nvPr/>
        </p:nvSpPr>
        <p:spPr>
          <a:xfrm>
            <a:off x="762000" y="6365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Carlito" pitchFamily="34" charset="0"/>
                <a:ea typeface="Carlito" pitchFamily="34" charset="-122"/>
                <a:cs typeface="Carlito" pitchFamily="34" charset="-120"/>
              </a:rPr>
              <a:t>Gas cap 450 → 0 bcm in 25 bcm steps · 100 €/tCO₂ · Franken, Riepin &amp; Brown (2026)</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ph type="title"/>
          </p:nvPr>
        </p:nvSpPr>
        <p:spPr>
          <a:xfrm>
            <a:off x="0" y="0"/>
            <a:ext cx="12557760"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058C98"/>
                </a:solidFill>
                <a:latin typeface="Carlito" pitchFamily="34" charset="0"/>
                <a:ea typeface="Carlito" pitchFamily="34" charset="-122"/>
                <a:cs typeface="Carlito" pitchFamily="34" charset="-120"/>
              </a:rPr>
              <a:t>Where the Gas Goes</a:t>
            </a:r>
            <a:endParaRPr lang="en-US" sz="2800" dirty="0"/>
          </a:p>
        </p:txBody>
      </p:sp>
      <p:sp>
        <p:nvSpPr>
          <p:cNvPr id="4" name="Text 1"/>
          <p:cNvSpPr/>
          <p:nvPr/>
        </p:nvSpPr>
        <p:spPr>
          <a:xfrm>
            <a:off x="0" y="492720"/>
            <a:ext cx="1255776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5B6B70"/>
                </a:solidFill>
                <a:latin typeface="Carlito" pitchFamily="34" charset="0"/>
                <a:ea typeface="Carlito" pitchFamily="34" charset="-122"/>
                <a:cs typeface="Carlito" pitchFamily="34" charset="-120"/>
              </a:rPr>
              <a:t>Low-temperature industry heat and power exit first; building heat holds on longest</a:t>
            </a:r>
            <a:endParaRPr lang="en-US" sz="1500" dirty="0"/>
          </a:p>
        </p:txBody>
      </p:sp>
      <p:pic>
        <p:nvPicPr>
          <p:cNvPr id="5" name="Image 1" descr="Sectoral gas allocation against total fossil gas supply: industry heat below 500 °C, electricity, building heat, hydrogen, industry heat above 500 °C and feedstock, with biomethane supply below zero">    </p:cNvPr>
          <p:cNvPicPr>
            <a:picLocks noChangeAspect="1"/>
          </p:cNvPicPr>
          <p:nvPr/>
        </p:nvPicPr>
        <p:blipFill>
          <a:blip r:embed="rId2"/>
          <a:srcRect l="-24" r="-24" t="0" b="0"/>
          <a:stretch/>
        </p:blipFill>
        <p:spPr>
          <a:xfrm>
            <a:off x="3098800" y="1627485"/>
            <a:ext cx="5994400" cy="4445000"/>
          </a:xfrm>
          <a:prstGeom prst="rect">
            <a:avLst/>
          </a:prstGeom>
        </p:spPr>
      </p:pic>
      <p:sp>
        <p:nvSpPr>
          <p:cNvPr id="6" name="Text 2"/>
          <p:cNvSpPr/>
          <p:nvPr/>
        </p:nvSpPr>
        <p:spPr>
          <a:xfrm>
            <a:off x="762000" y="6365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Carlito" pitchFamily="34" charset="0"/>
                <a:ea typeface="Carlito" pitchFamily="34" charset="-122"/>
                <a:cs typeface="Carlito" pitchFamily="34" charset="-120"/>
              </a:rPr>
              <a:t>Dashed lines: Autarky (200 bcm), No-LNG (275 bcm) · grey: today’s demand · Franken, Riepin &amp; Brown (2026)</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ph type="title"/>
          </p:nvPr>
        </p:nvSpPr>
        <p:spPr>
          <a:xfrm>
            <a:off x="0" y="0"/>
            <a:ext cx="12557760"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058C98"/>
                </a:solidFill>
                <a:latin typeface="Carlito" pitchFamily="34" charset="0"/>
                <a:ea typeface="Carlito" pitchFamily="34" charset="-122"/>
                <a:cs typeface="Carlito" pitchFamily="34" charset="-120"/>
              </a:rPr>
              <a:t>What Replaces Gas, Sector by Sector</a:t>
            </a:r>
            <a:endParaRPr lang="en-US" sz="2800" dirty="0"/>
          </a:p>
        </p:txBody>
      </p:sp>
      <p:pic>
        <p:nvPicPr>
          <p:cNvPr id="4" name="Image 1" descr="Supply shares by sector (industry heat bands, electricity, district and individual heating, hydrogen, industry heat above 500 °C) against total fossil gas supply">    </p:cNvPr>
          <p:cNvPicPr>
            <a:picLocks noChangeAspect="1"/>
          </p:cNvPicPr>
          <p:nvPr/>
        </p:nvPicPr>
        <p:blipFill>
          <a:blip r:embed="rId2"/>
          <a:srcRect l="0" r="0" t="-19" b="-19"/>
          <a:stretch/>
        </p:blipFill>
        <p:spPr>
          <a:xfrm>
            <a:off x="2305050" y="1294110"/>
            <a:ext cx="3644900" cy="4762500"/>
          </a:xfrm>
          <a:prstGeom prst="rect">
            <a:avLst/>
          </a:prstGeom>
        </p:spPr>
      </p:pic>
      <p:sp>
        <p:nvSpPr>
          <p:cNvPr id="5" name="Text 1"/>
          <p:cNvSpPr/>
          <p:nvPr/>
        </p:nvSpPr>
        <p:spPr>
          <a:xfrm>
            <a:off x="6457950" y="2185789"/>
            <a:ext cx="35318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5606A"/>
                </a:solidFill>
                <a:latin typeface="Carlito" pitchFamily="34" charset="0"/>
                <a:ea typeface="Carlito" pitchFamily="34" charset="-122"/>
                <a:cs typeface="Carlito" pitchFamily="34" charset="-120"/>
              </a:rPr>
              <a:t>Industry heat &lt; 500 °C</a:t>
            </a:r>
            <a:endParaRPr lang="en-US" sz="1700" dirty="0"/>
          </a:p>
        </p:txBody>
      </p:sp>
      <p:sp>
        <p:nvSpPr>
          <p:cNvPr id="6" name="Text 2"/>
          <p:cNvSpPr/>
          <p:nvPr/>
        </p:nvSpPr>
        <p:spPr>
          <a:xfrm>
            <a:off x="6457950" y="2470249"/>
            <a:ext cx="3531870"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B6B70"/>
                </a:solidFill>
                <a:latin typeface="Carlito" pitchFamily="34" charset="0"/>
                <a:ea typeface="Carlito" pitchFamily="34" charset="-122"/>
                <a:cs typeface="Carlito" pitchFamily="34" charset="-120"/>
              </a:rPr>
              <a:t>heat pumps, electric heating, biomass</a:t>
            </a:r>
            <a:endParaRPr lang="en-US" sz="1400" dirty="0"/>
          </a:p>
        </p:txBody>
      </p:sp>
      <p:sp>
        <p:nvSpPr>
          <p:cNvPr id="7" name="Text 3"/>
          <p:cNvSpPr/>
          <p:nvPr/>
        </p:nvSpPr>
        <p:spPr>
          <a:xfrm>
            <a:off x="6457950" y="2929930"/>
            <a:ext cx="35318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5606A"/>
                </a:solidFill>
                <a:latin typeface="Carlito" pitchFamily="34" charset="0"/>
                <a:ea typeface="Carlito" pitchFamily="34" charset="-122"/>
                <a:cs typeface="Carlito" pitchFamily="34" charset="-120"/>
              </a:rPr>
              <a:t>Power</a:t>
            </a:r>
            <a:endParaRPr lang="en-US" sz="1700" dirty="0"/>
          </a:p>
        </p:txBody>
      </p:sp>
      <p:sp>
        <p:nvSpPr>
          <p:cNvPr id="8" name="Text 4"/>
          <p:cNvSpPr/>
          <p:nvPr/>
        </p:nvSpPr>
        <p:spPr>
          <a:xfrm>
            <a:off x="6457950" y="3214390"/>
            <a:ext cx="3531870"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B6B70"/>
                </a:solidFill>
                <a:latin typeface="Carlito" pitchFamily="34" charset="0"/>
                <a:ea typeface="Carlito" pitchFamily="34" charset="-122"/>
                <a:cs typeface="Carlito" pitchFamily="34" charset="-120"/>
              </a:rPr>
              <a:t>wind, solar and batteries; gas leaves bulk generation at ~250 bcm</a:t>
            </a:r>
            <a:endParaRPr lang="en-US" sz="1400" dirty="0"/>
          </a:p>
        </p:txBody>
      </p:sp>
      <p:sp>
        <p:nvSpPr>
          <p:cNvPr id="9" name="Text 5"/>
          <p:cNvSpPr/>
          <p:nvPr/>
        </p:nvSpPr>
        <p:spPr>
          <a:xfrm>
            <a:off x="6457950" y="3905151"/>
            <a:ext cx="35318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5606A"/>
                </a:solidFill>
                <a:latin typeface="Carlito" pitchFamily="34" charset="0"/>
                <a:ea typeface="Carlito" pitchFamily="34" charset="-122"/>
                <a:cs typeface="Carlito" pitchFamily="34" charset="-120"/>
              </a:rPr>
              <a:t>Building heat</a:t>
            </a:r>
            <a:endParaRPr lang="en-US" sz="1700" dirty="0"/>
          </a:p>
        </p:txBody>
      </p:sp>
      <p:sp>
        <p:nvSpPr>
          <p:cNvPr id="10" name="Text 6"/>
          <p:cNvSpPr/>
          <p:nvPr/>
        </p:nvSpPr>
        <p:spPr>
          <a:xfrm>
            <a:off x="6457950" y="4189611"/>
            <a:ext cx="3531870"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B6B70"/>
                </a:solidFill>
                <a:latin typeface="Carlito" pitchFamily="34" charset="0"/>
                <a:ea typeface="Carlito" pitchFamily="34" charset="-122"/>
                <a:cs typeface="Carlito" pitchFamily="34" charset="-120"/>
              </a:rPr>
              <a:t>gradual, with regional hold-outs</a:t>
            </a:r>
            <a:endParaRPr lang="en-US" sz="1400" dirty="0"/>
          </a:p>
        </p:txBody>
      </p:sp>
      <p:sp>
        <p:nvSpPr>
          <p:cNvPr id="11" name="Text 7"/>
          <p:cNvSpPr/>
          <p:nvPr/>
        </p:nvSpPr>
        <p:spPr>
          <a:xfrm>
            <a:off x="6457950" y="4649291"/>
            <a:ext cx="35318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5606A"/>
                </a:solidFill>
                <a:latin typeface="Carlito" pitchFamily="34" charset="0"/>
                <a:ea typeface="Carlito" pitchFamily="34" charset="-122"/>
                <a:cs typeface="Carlito" pitchFamily="34" charset="-120"/>
              </a:rPr>
              <a:t>Industry &gt; 500 °C</a:t>
            </a:r>
            <a:endParaRPr lang="en-US" sz="1700" dirty="0"/>
          </a:p>
        </p:txBody>
      </p:sp>
      <p:sp>
        <p:nvSpPr>
          <p:cNvPr id="12" name="Text 8"/>
          <p:cNvSpPr/>
          <p:nvPr/>
        </p:nvSpPr>
        <p:spPr>
          <a:xfrm>
            <a:off x="6457950" y="4933752"/>
            <a:ext cx="3531870"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B6B70"/>
                </a:solidFill>
                <a:latin typeface="Carlito" pitchFamily="34" charset="0"/>
                <a:ea typeface="Carlito" pitchFamily="34" charset="-122"/>
                <a:cs typeface="Carlito" pitchFamily="34" charset="-120"/>
              </a:rPr>
              <a:t>hydrogen, only after &gt; 30 bcm of biomethane</a:t>
            </a:r>
            <a:endParaRPr lang="en-US" sz="1400" dirty="0"/>
          </a:p>
        </p:txBody>
      </p:sp>
      <p:sp>
        <p:nvSpPr>
          <p:cNvPr id="13" name="Text 9"/>
          <p:cNvSpPr/>
          <p:nvPr/>
        </p:nvSpPr>
        <p:spPr>
          <a:xfrm>
            <a:off x="762000" y="6365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Carlito" pitchFamily="34" charset="0"/>
                <a:ea typeface="Carlito" pitchFamily="34" charset="-122"/>
                <a:cs typeface="Carlito" pitchFamily="34" charset="-120"/>
              </a:rPr>
              <a:t>Franken, Riepin &amp; Brown (2026)</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ph type="title"/>
          </p:nvPr>
        </p:nvSpPr>
        <p:spPr>
          <a:xfrm>
            <a:off x="0" y="0"/>
            <a:ext cx="12557760"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058C98"/>
                </a:solidFill>
                <a:latin typeface="Carlito" pitchFamily="34" charset="0"/>
                <a:ea typeface="Carlito" pitchFamily="34" charset="-122"/>
                <a:cs typeface="Carlito" pitchFamily="34" charset="-120"/>
              </a:rPr>
              <a:t>Are We on Track for Autarky?</a:t>
            </a:r>
            <a:endParaRPr lang="en-US" sz="2800" dirty="0"/>
          </a:p>
        </p:txBody>
      </p:sp>
      <p:sp>
        <p:nvSpPr>
          <p:cNvPr id="4" name="Text 1"/>
          <p:cNvSpPr/>
          <p:nvPr/>
        </p:nvSpPr>
        <p:spPr>
          <a:xfrm>
            <a:off x="0" y="492720"/>
            <a:ext cx="1255776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5B6B70"/>
                </a:solidFill>
                <a:latin typeface="Carlito" pitchFamily="34" charset="0"/>
                <a:ea typeface="Carlito" pitchFamily="34" charset="-122"/>
                <a:cs typeface="Carlito" pitchFamily="34" charset="-120"/>
              </a:rPr>
              <a:t>Autarky needs twice the 2025 wind, solar and heat-pump fleets; power gets there first</a:t>
            </a:r>
            <a:endParaRPr lang="en-US" sz="1500" dirty="0"/>
          </a:p>
        </p:txBody>
      </p:sp>
      <p:pic>
        <p:nvPicPr>
          <p:cNvPr id="5" name="Image 1" descr="Technology roll-out needed for No-LNG and Autarky versus current trends: a solar PV, b wind, c building electric heating, d gas-displacing industry electrification and solid biomass, 2018–2035">    </p:cNvPr>
          <p:cNvPicPr>
            <a:picLocks noChangeAspect="1"/>
          </p:cNvPicPr>
          <p:nvPr/>
        </p:nvPicPr>
        <p:blipFill>
          <a:blip r:embed="rId2"/>
          <a:srcRect l="-14" r="-14" t="0" b="0"/>
          <a:stretch/>
        </p:blipFill>
        <p:spPr>
          <a:xfrm>
            <a:off x="3108325" y="1627485"/>
            <a:ext cx="5975350" cy="4445000"/>
          </a:xfrm>
          <a:prstGeom prst="rect">
            <a:avLst/>
          </a:prstGeom>
        </p:spPr>
      </p:pic>
      <p:sp>
        <p:nvSpPr>
          <p:cNvPr id="6" name="Text 2"/>
          <p:cNvSpPr/>
          <p:nvPr/>
        </p:nvSpPr>
        <p:spPr>
          <a:xfrm>
            <a:off x="762000" y="6365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Carlito" pitchFamily="34" charset="0"/>
                <a:ea typeface="Carlito" pitchFamily="34" charset="-122"/>
                <a:cs typeface="Carlito" pitchFamily="34" charset="-120"/>
              </a:rPr>
              <a:t>NECP targets 2030: Ember (2024), DESNZ (2024) · Franken, Riepin &amp; Brown (2026)</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ph type="title"/>
          </p:nvPr>
        </p:nvSpPr>
        <p:spPr>
          <a:xfrm>
            <a:off x="0" y="0"/>
            <a:ext cx="12557760"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058C98"/>
                </a:solidFill>
                <a:latin typeface="Carlito" pitchFamily="34" charset="0"/>
                <a:ea typeface="Carlito" pitchFamily="34" charset="-122"/>
                <a:cs typeface="Carlito" pitchFamily="34" charset="-120"/>
              </a:rPr>
              <a:t>Where Gas Demand Settles</a:t>
            </a:r>
            <a:endParaRPr lang="en-US" sz="2800" dirty="0"/>
          </a:p>
        </p:txBody>
      </p:sp>
      <p:sp>
        <p:nvSpPr>
          <p:cNvPr id="4" name="Text 1"/>
          <p:cNvSpPr/>
          <p:nvPr/>
        </p:nvSpPr>
        <p:spPr>
          <a:xfrm>
            <a:off x="0" y="492720"/>
            <a:ext cx="1255776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5B6B70"/>
                </a:solidFill>
                <a:latin typeface="Carlito" pitchFamily="34" charset="0"/>
                <a:ea typeface="Carlito" pitchFamily="34" charset="-122"/>
                <a:cs typeface="Carlito" pitchFamily="34" charset="-120"/>
              </a:rPr>
              <a:t>At gas prices of 30 €/MWh or more and 100 €/tCO₂, autarky is cost-optimal</a:t>
            </a:r>
            <a:endParaRPr lang="en-US" sz="1500" dirty="0"/>
          </a:p>
        </p:txBody>
      </p:sp>
      <p:pic>
        <p:nvPicPr>
          <p:cNvPr id="5" name="Image 1" descr="System cost against total fossil gas supply for global gas prices from 24.6 to 49.1 €/MWh; each parabola’s minimum marks the long-term market equilibrium">    </p:cNvPr>
          <p:cNvPicPr>
            <a:picLocks noChangeAspect="1"/>
          </p:cNvPicPr>
          <p:nvPr/>
        </p:nvPicPr>
        <p:blipFill>
          <a:blip r:embed="rId2"/>
          <a:srcRect l="-5" r="-5" t="0" b="0"/>
          <a:stretch/>
        </p:blipFill>
        <p:spPr>
          <a:xfrm>
            <a:off x="2832100" y="1627485"/>
            <a:ext cx="6527800" cy="4445000"/>
          </a:xfrm>
          <a:prstGeom prst="rect">
            <a:avLst/>
          </a:prstGeom>
        </p:spPr>
      </p:pic>
      <p:sp>
        <p:nvSpPr>
          <p:cNvPr id="6" name="Text 2"/>
          <p:cNvSpPr/>
          <p:nvPr/>
        </p:nvSpPr>
        <p:spPr>
          <a:xfrm>
            <a:off x="762000" y="6365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Carlito" pitchFamily="34" charset="0"/>
                <a:ea typeface="Carlito" pitchFamily="34" charset="-122"/>
                <a:cs typeface="Carlito" pitchFamily="34" charset="-120"/>
              </a:rPr>
              <a:t>Long-run price elasticity of gas demand ≈ −1.33 · Franken, Riepin &amp; Brown (2026)</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ph type="title"/>
          </p:nvPr>
        </p:nvSpPr>
        <p:spPr>
          <a:xfrm>
            <a:off x="0" y="0"/>
            <a:ext cx="12557760"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058C98"/>
                </a:solidFill>
                <a:latin typeface="Carlito" pitchFamily="34" charset="0"/>
                <a:ea typeface="Carlito" pitchFamily="34" charset="-122"/>
                <a:cs typeface="Carlito" pitchFamily="34" charset="-120"/>
              </a:rPr>
              <a:t>Gas Still Sets the Electricity Price</a:t>
            </a:r>
            <a:endParaRPr lang="en-US" sz="2800" dirty="0"/>
          </a:p>
        </p:txBody>
      </p:sp>
      <p:sp>
        <p:nvSpPr>
          <p:cNvPr id="4" name="Text 1"/>
          <p:cNvSpPr/>
          <p:nvPr/>
        </p:nvSpPr>
        <p:spPr>
          <a:xfrm>
            <a:off x="0" y="492720"/>
            <a:ext cx="1255776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5B6B70"/>
                </a:solidFill>
                <a:latin typeface="Carlito" pitchFamily="34" charset="0"/>
                <a:ea typeface="Carlito" pitchFamily="34" charset="-122"/>
                <a:cs typeface="Carlito" pitchFamily="34" charset="-120"/>
              </a:rPr>
              <a:t>Even below 8 % of the power mix, gas anchors the price about half the time</a:t>
            </a:r>
            <a:endParaRPr lang="en-US" sz="1500" dirty="0"/>
          </a:p>
        </p:txBody>
      </p:sp>
      <p:pic>
        <p:nvPicPr>
          <p:cNvPr id="5" name="Image 1" descr="Distribution of wholesale marginal electricity prices across buses and snapshots for gas consumption from 100 to 400 bcm, tracking the CCGT fuel-only marginal cost line">    </p:cNvPr>
          <p:cNvPicPr>
            <a:picLocks noChangeAspect="1"/>
          </p:cNvPicPr>
          <p:nvPr/>
        </p:nvPicPr>
        <p:blipFill>
          <a:blip r:embed="rId2"/>
          <a:srcRect l="0" r="0" t="-13" b="-13"/>
          <a:stretch/>
        </p:blipFill>
        <p:spPr>
          <a:xfrm>
            <a:off x="3054350" y="1627485"/>
            <a:ext cx="6083300" cy="4445000"/>
          </a:xfrm>
          <a:prstGeom prst="rect">
            <a:avLst/>
          </a:prstGeom>
        </p:spPr>
      </p:pic>
      <p:sp>
        <p:nvSpPr>
          <p:cNvPr id="6" name="Text 2"/>
          <p:cNvSpPr/>
          <p:nvPr/>
        </p:nvSpPr>
        <p:spPr>
          <a:xfrm>
            <a:off x="762000" y="6365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Carlito" pitchFamily="34" charset="0"/>
                <a:ea typeface="Carlito" pitchFamily="34" charset="-122"/>
                <a:cs typeface="Carlito" pitchFamily="34" charset="-120"/>
              </a:rPr>
              <a:t>Red line: CCGT fuel-only marginal cost, slope = efficiency 0.58 · Franken, Riepin &amp; Brown (2026)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ph type="title"/>
          </p:nvPr>
        </p:nvSpPr>
        <p:spPr>
          <a:xfrm>
            <a:off x="0" y="0"/>
            <a:ext cx="12557760"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058C98"/>
                </a:solidFill>
                <a:latin typeface="Carlito" pitchFamily="34" charset="0"/>
                <a:ea typeface="Carlito" pitchFamily="34" charset="-122"/>
                <a:cs typeface="Carlito" pitchFamily="34" charset="-120"/>
              </a:rPr>
              <a:t>Gas Price Shocks Reach Every Consumer</a:t>
            </a:r>
            <a:endParaRPr lang="en-US" sz="2800" dirty="0"/>
          </a:p>
        </p:txBody>
      </p:sp>
      <p:sp>
        <p:nvSpPr>
          <p:cNvPr id="4" name="Text 1"/>
          <p:cNvSpPr/>
          <p:nvPr/>
        </p:nvSpPr>
        <p:spPr>
          <a:xfrm>
            <a:off x="0" y="492720"/>
            <a:ext cx="1255776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5B6B70"/>
                </a:solidFill>
                <a:latin typeface="Carlito" pitchFamily="34" charset="0"/>
                <a:ea typeface="Carlito" pitchFamily="34" charset="-122"/>
                <a:cs typeface="Carlito" pitchFamily="34" charset="-120"/>
              </a:rPr>
              <a:t>+1 €/MWh on gas costs consumers +8.7 bn€ a year, about twice volume × price</a:t>
            </a:r>
            <a:endParaRPr lang="en-US" sz="1500" dirty="0"/>
          </a:p>
        </p:txBody>
      </p:sp>
      <p:pic>
        <p:nvPicPr>
          <p:cNvPr id="5" name="Image 1" descr="Consumer energy cost increase per 1 €/MWh gas-price hike, 8.7 bn€ in total, split by demand type and by consumer group">    </p:cNvPr>
          <p:cNvPicPr>
            <a:picLocks noChangeAspect="1"/>
          </p:cNvPicPr>
          <p:nvPr/>
        </p:nvPicPr>
        <p:blipFill>
          <a:blip r:embed="rId2"/>
          <a:srcRect l="0" r="0" t="-33" b="-33"/>
          <a:stretch/>
        </p:blipFill>
        <p:spPr>
          <a:xfrm>
            <a:off x="4400550" y="1627485"/>
            <a:ext cx="3390900" cy="4445000"/>
          </a:xfrm>
          <a:prstGeom prst="rect">
            <a:avLst/>
          </a:prstGeom>
        </p:spPr>
      </p:pic>
      <p:sp>
        <p:nvSpPr>
          <p:cNvPr id="6" name="Text 2"/>
          <p:cNvSpPr/>
          <p:nvPr/>
        </p:nvSpPr>
        <p:spPr>
          <a:xfrm>
            <a:off x="762000" y="6365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Carlito" pitchFamily="34" charset="0"/>
                <a:ea typeface="Carlito" pitchFamily="34" charset="-122"/>
                <a:cs typeface="Carlito" pitchFamily="34" charset="-120"/>
              </a:rPr>
              <a:t>System at 400 bcm/a, operation-only re-optimisation · Franken, Riepin &amp; Brown (2026)</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ph type="title"/>
          </p:nvPr>
        </p:nvSpPr>
        <p:spPr>
          <a:xfrm>
            <a:off x="0" y="0"/>
            <a:ext cx="12557760"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5B6B70"/>
                </a:solidFill>
                <a:latin typeface="Carlito" pitchFamily="34" charset="0"/>
                <a:ea typeface="Carlito" pitchFamily="34" charset="-122"/>
                <a:cs typeface="Carlito" pitchFamily="34" charset="-120"/>
              </a:rPr>
              <a:t>Other RESILIENT Work:</a:t>
            </a:r>
            <a:r>
              <a:rPr lang="en-US" sz="2800" b="1" i="0" dirty="0">
                <a:solidFill>
                  <a:srgbClr val="058C98"/>
                </a:solidFill>
                <a:latin typeface="Carlito" pitchFamily="34" charset="0"/>
                <a:ea typeface="Carlito" pitchFamily="34" charset="-122"/>
                <a:cs typeface="Carlito" pitchFamily="34" charset="-120"/>
              </a:rPr>
              <a:t> NRW CO₂ Network in 2045</a:t>
            </a:r>
            <a:endParaRPr lang="en-US" sz="2800" dirty="0"/>
          </a:p>
        </p:txBody>
      </p:sp>
      <p:sp>
        <p:nvSpPr>
          <p:cNvPr id="4" name="Text 1"/>
          <p:cNvSpPr/>
          <p:nvPr/>
        </p:nvSpPr>
        <p:spPr>
          <a:xfrm>
            <a:off x="0" y="492720"/>
            <a:ext cx="1255776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5B6B70"/>
                </a:solidFill>
                <a:latin typeface="Carlito" pitchFamily="34" charset="0"/>
                <a:ea typeface="Carlito" pitchFamily="34" charset="-122"/>
                <a:cs typeface="Carlito" pitchFamily="34" charset="-120"/>
              </a:rPr>
              <a:t>First step for NRW: one or two DN400 feeder pipelines, ~8.9 Mtpa each</a:t>
            </a:r>
            <a:endParaRPr lang="en-US" sz="1500" dirty="0"/>
          </a:p>
        </p:txBody>
      </p:sp>
      <p:pic>
        <p:nvPicPr>
          <p:cNvPr id="5" name="Image 1" descr="Optimised CO₂ pipeline network for Europe (left) and North Rhine-Westphalia (right) in 2045, showing capture by source, utilisation and sequestration, and pipeline sizes">    </p:cNvPr>
          <p:cNvPicPr>
            <a:picLocks noChangeAspect="1"/>
          </p:cNvPicPr>
          <p:nvPr/>
        </p:nvPicPr>
        <p:blipFill>
          <a:blip r:embed="rId2"/>
          <a:srcRect l="-5" r="-5" t="0" b="0"/>
          <a:stretch/>
        </p:blipFill>
        <p:spPr>
          <a:xfrm>
            <a:off x="2628900" y="1627485"/>
            <a:ext cx="6934200" cy="4445000"/>
          </a:xfrm>
          <a:prstGeom prst="rect">
            <a:avLst/>
          </a:prstGeom>
        </p:spPr>
      </p:pic>
      <p:sp>
        <p:nvSpPr>
          <p:cNvPr id="6" name="Text 2"/>
          <p:cNvSpPr/>
          <p:nvPr/>
        </p:nvSpPr>
        <p:spPr>
          <a:xfrm>
            <a:off x="762000" y="6365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Carlito" pitchFamily="34" charset="0"/>
                <a:ea typeface="Carlito" pitchFamily="34" charset="-122"/>
                <a:cs typeface="Carlito" pitchFamily="34" charset="-120"/>
              </a:rPr>
              <a:t>Scenario 1.b: hard-to-abate industry, endogenous pipelines · Xiong, Al-Dabbas &amp; Fleiter, CO₂ sprint, Gelsenkirchen, 30 June 2026</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ph type="title"/>
          </p:nvPr>
        </p:nvSpPr>
        <p:spPr>
          <a:xfrm>
            <a:off x="0" y="0"/>
            <a:ext cx="12557760"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5B6B70"/>
                </a:solidFill>
                <a:latin typeface="Carlito" pitchFamily="34" charset="0"/>
                <a:ea typeface="Carlito" pitchFamily="34" charset="-122"/>
                <a:cs typeface="Carlito" pitchFamily="34" charset="-120"/>
              </a:rPr>
              <a:t>Other RESILIENT Work:</a:t>
            </a:r>
            <a:r>
              <a:rPr lang="en-US" sz="2800" b="1" i="0" dirty="0">
                <a:solidFill>
                  <a:srgbClr val="058C98"/>
                </a:solidFill>
                <a:latin typeface="Carlito" pitchFamily="34" charset="0"/>
                <a:ea typeface="Carlito" pitchFamily="34" charset="-122"/>
                <a:cs typeface="Carlito" pitchFamily="34" charset="-120"/>
              </a:rPr>
              <a:t> PCI-PMI H₂ &amp; CO₂ Backbone</a:t>
            </a:r>
            <a:endParaRPr lang="en-US" sz="2800" dirty="0"/>
          </a:p>
        </p:txBody>
      </p:sp>
      <p:sp>
        <p:nvSpPr>
          <p:cNvPr id="4" name="Text 1"/>
          <p:cNvSpPr/>
          <p:nvPr/>
        </p:nvSpPr>
        <p:spPr>
          <a:xfrm>
            <a:off x="0" y="492720"/>
            <a:ext cx="1255776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5B6B70"/>
                </a:solidFill>
                <a:latin typeface="Carlito" pitchFamily="34" charset="0"/>
                <a:ea typeface="Carlito" pitchFamily="34" charset="-122"/>
                <a:cs typeface="Carlito" pitchFamily="34" charset="-120"/>
              </a:rPr>
              <a:t>From 2040, PCI-PMI pipelines cut system costs by more than 26 bn€ a year</a:t>
            </a:r>
            <a:endParaRPr lang="en-US" sz="1500" dirty="0"/>
          </a:p>
        </p:txBody>
      </p:sp>
      <p:pic>
        <p:nvPicPr>
          <p:cNvPr id="5" name="Image 1" descr="Six maps of the PCI-PMI long-term scenario: hydrogen (top) and CO₂ (bottom) production, use, transport and demand-weighted price in 2030, 2040 and 2050">    </p:cNvPr>
          <p:cNvPicPr>
            <a:picLocks noChangeAspect="1"/>
          </p:cNvPicPr>
          <p:nvPr/>
        </p:nvPicPr>
        <p:blipFill>
          <a:blip r:embed="rId2"/>
          <a:srcRect l="-20" r="-20" t="0" b="0"/>
          <a:stretch/>
        </p:blipFill>
        <p:spPr>
          <a:xfrm>
            <a:off x="3727450" y="1563985"/>
            <a:ext cx="4737100" cy="4572000"/>
          </a:xfrm>
          <a:prstGeom prst="rect">
            <a:avLst/>
          </a:prstGeom>
        </p:spPr>
      </p:pic>
      <p:sp>
        <p:nvSpPr>
          <p:cNvPr id="6" name="Text 2"/>
          <p:cNvSpPr/>
          <p:nvPr/>
        </p:nvSpPr>
        <p:spPr>
          <a:xfrm>
            <a:off x="762000" y="6365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Carlito" pitchFamily="34" charset="0"/>
                <a:ea typeface="Carlito" pitchFamily="34" charset="-122"/>
                <a:cs typeface="Carlito" pitchFamily="34" charset="-120"/>
              </a:rPr>
              <a:t>PCI-PMI long-term scenario · Xiong, Brown &amp; Riepin (2026), Environmental Research Letters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ph type="title"/>
          </p:nvPr>
        </p:nvSpPr>
        <p:spPr>
          <a:xfrm>
            <a:off x="0" y="0"/>
            <a:ext cx="12557760"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5B6B70"/>
                </a:solidFill>
                <a:latin typeface="Carlito" pitchFamily="34" charset="0"/>
                <a:ea typeface="Carlito" pitchFamily="34" charset="-122"/>
                <a:cs typeface="Carlito" pitchFamily="34" charset="-120"/>
              </a:rPr>
              <a:t>Other RESILIENT Work:</a:t>
            </a:r>
            <a:r>
              <a:rPr lang="en-US" sz="2800" b="1" i="0" dirty="0">
                <a:solidFill>
                  <a:srgbClr val="058C98"/>
                </a:solidFill>
                <a:latin typeface="Carlito" pitchFamily="34" charset="0"/>
                <a:ea typeface="Carlito" pitchFamily="34" charset="-122"/>
                <a:cs typeface="Carlito" pitchFamily="34" charset="-120"/>
              </a:rPr>
              <a:t> Risk-Averse Planning with CVaR</a:t>
            </a:r>
            <a:endParaRPr lang="en-US" sz="2800" dirty="0"/>
          </a:p>
        </p:txBody>
      </p:sp>
      <p:sp>
        <p:nvSpPr>
          <p:cNvPr id="4" name="Text 1"/>
          <p:cNvSpPr/>
          <p:nvPr/>
        </p:nvSpPr>
        <p:spPr>
          <a:xfrm>
            <a:off x="0" y="492720"/>
            <a:ext cx="1255776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5B6B70"/>
                </a:solidFill>
                <a:latin typeface="Carlito" pitchFamily="34" charset="0"/>
                <a:ea typeface="Carlito" pitchFamily="34" charset="-122"/>
                <a:cs typeface="Carlito" pitchFamily="34" charset="-120"/>
              </a:rPr>
              <a:t>Stochastic optimisation and CVaR in PyPSA v1.0, the optimisation core under PyPSA-Eur</a:t>
            </a:r>
            <a:endParaRPr lang="en-US" sz="1500" dirty="0"/>
          </a:p>
        </p:txBody>
      </p:sp>
      <p:sp>
        <p:nvSpPr>
          <p:cNvPr id="5" name="Shape 2"/>
          <p:cNvSpPr/>
          <p:nvPr/>
        </p:nvSpPr>
        <p:spPr>
          <a:xfrm>
            <a:off x="1841500" y="1960364"/>
            <a:ext cx="3175000" cy="754261"/>
          </a:xfrm>
          <a:prstGeom prst="roundRect">
            <a:avLst>
              <a:gd name="adj" fmla="val 11786"/>
            </a:avLst>
          </a:prstGeom>
          <a:solidFill>
            <a:srgbClr val="058C98"/>
          </a:solidFill>
          <a:ln/>
        </p:spPr>
      </p:sp>
      <p:sp>
        <p:nvSpPr>
          <p:cNvPr id="6" name="Text 3"/>
          <p:cNvSpPr/>
          <p:nvPr/>
        </p:nvSpPr>
        <p:spPr>
          <a:xfrm>
            <a:off x="2019300" y="2087364"/>
            <a:ext cx="290398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FFFF"/>
                </a:solidFill>
                <a:latin typeface="Carlito" pitchFamily="34" charset="0"/>
                <a:ea typeface="Carlito" pitchFamily="34" charset="-122"/>
                <a:cs typeface="Carlito" pitchFamily="34" charset="-120"/>
              </a:rPr>
              <a:t>Investment</a:t>
            </a:r>
            <a:endParaRPr lang="en-US" sz="1600" dirty="0"/>
          </a:p>
        </p:txBody>
      </p:sp>
      <p:sp>
        <p:nvSpPr>
          <p:cNvPr id="7" name="Text 4"/>
          <p:cNvSpPr/>
          <p:nvPr/>
        </p:nvSpPr>
        <p:spPr>
          <a:xfrm>
            <a:off x="2019300" y="2356545"/>
            <a:ext cx="290398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Carlito" pitchFamily="34" charset="0"/>
                <a:ea typeface="Carlito" pitchFamily="34" charset="-122"/>
                <a:cs typeface="Carlito" pitchFamily="34" charset="-120"/>
              </a:rPr>
              <a:t>one plan, shared by all scenarios</a:t>
            </a:r>
            <a:endParaRPr lang="en-US" sz="1300" dirty="0"/>
          </a:p>
        </p:txBody>
      </p:sp>
      <p:pic>
        <p:nvPicPr>
          <p:cNvPr id="8" name="Image 1" descr="arrow-down">    </p:cNvPr>
          <p:cNvPicPr>
            <a:picLocks noChangeAspect="1"/>
          </p:cNvPicPr>
          <p:nvPr/>
        </p:nvPicPr>
        <p:blipFill>
          <a:blip r:embed="rId2"/>
          <a:srcRect l="0" r="0" t="0" b="0"/>
          <a:stretch/>
        </p:blipFill>
        <p:spPr>
          <a:xfrm>
            <a:off x="3314700" y="2816225"/>
            <a:ext cx="228600" cy="355600"/>
          </a:xfrm>
          <a:prstGeom prst="rect">
            <a:avLst/>
          </a:prstGeom>
        </p:spPr>
      </p:pic>
      <p:sp>
        <p:nvSpPr>
          <p:cNvPr id="9" name="Shape 5"/>
          <p:cNvSpPr/>
          <p:nvPr/>
        </p:nvSpPr>
        <p:spPr>
          <a:xfrm>
            <a:off x="1847850" y="3279775"/>
            <a:ext cx="994767" cy="840581"/>
          </a:xfrm>
          <a:prstGeom prst="roundRect">
            <a:avLst>
              <a:gd name="adj" fmla="val 8310"/>
            </a:avLst>
          </a:prstGeom>
          <a:solidFill>
            <a:srgbClr val="F1F6F6"/>
          </a:solidFill>
          <a:ln w="12700">
            <a:solidFill>
              <a:srgbClr val="CFE5E7"/>
            </a:solidFill>
            <a:prstDash val="solid"/>
          </a:ln>
        </p:spPr>
      </p:sp>
      <p:sp>
        <p:nvSpPr>
          <p:cNvPr id="10" name="Text 6"/>
          <p:cNvSpPr/>
          <p:nvPr/>
        </p:nvSpPr>
        <p:spPr>
          <a:xfrm>
            <a:off x="1955800" y="3375025"/>
            <a:ext cx="829667"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5606A"/>
                </a:solidFill>
                <a:latin typeface="Carlito" pitchFamily="34" charset="0"/>
                <a:ea typeface="Carlito" pitchFamily="34" charset="-122"/>
                <a:cs typeface="Carlito" pitchFamily="34" charset="-120"/>
              </a:rPr>
              <a:t>Scenario 1</a:t>
            </a:r>
            <a:endParaRPr lang="en-US" sz="1300" dirty="0"/>
          </a:p>
        </p:txBody>
      </p:sp>
      <p:sp>
        <p:nvSpPr>
          <p:cNvPr id="11" name="Text 7"/>
          <p:cNvSpPr/>
          <p:nvPr/>
        </p:nvSpPr>
        <p:spPr>
          <a:xfrm>
            <a:off x="1955800" y="3598466"/>
            <a:ext cx="82966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Carlito" pitchFamily="34" charset="0"/>
                <a:ea typeface="Carlito" pitchFamily="34" charset="-122"/>
                <a:cs typeface="Carlito" pitchFamily="34" charset="-120"/>
              </a:rPr>
              <a:t>p₁ · OPEX₁</a:t>
            </a:r>
            <a:endParaRPr lang="en-US" sz="1200" dirty="0"/>
          </a:p>
        </p:txBody>
      </p:sp>
      <p:sp>
        <p:nvSpPr>
          <p:cNvPr id="12" name="Shape 8"/>
          <p:cNvSpPr/>
          <p:nvPr/>
        </p:nvSpPr>
        <p:spPr>
          <a:xfrm>
            <a:off x="2931517" y="3279775"/>
            <a:ext cx="994866" cy="840581"/>
          </a:xfrm>
          <a:prstGeom prst="roundRect">
            <a:avLst>
              <a:gd name="adj" fmla="val 8310"/>
            </a:avLst>
          </a:prstGeom>
          <a:solidFill>
            <a:srgbClr val="F1F6F6"/>
          </a:solidFill>
          <a:ln w="12700">
            <a:solidFill>
              <a:srgbClr val="CFE5E7"/>
            </a:solidFill>
            <a:prstDash val="solid"/>
          </a:ln>
        </p:spPr>
      </p:sp>
      <p:sp>
        <p:nvSpPr>
          <p:cNvPr id="13" name="Text 9"/>
          <p:cNvSpPr/>
          <p:nvPr/>
        </p:nvSpPr>
        <p:spPr>
          <a:xfrm>
            <a:off x="3039467" y="3375025"/>
            <a:ext cx="829766"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5606A"/>
                </a:solidFill>
                <a:latin typeface="Carlito" pitchFamily="34" charset="0"/>
                <a:ea typeface="Carlito" pitchFamily="34" charset="-122"/>
                <a:cs typeface="Carlito" pitchFamily="34" charset="-120"/>
              </a:rPr>
              <a:t>Scenario 2</a:t>
            </a:r>
            <a:endParaRPr lang="en-US" sz="1300" dirty="0"/>
          </a:p>
        </p:txBody>
      </p:sp>
      <p:sp>
        <p:nvSpPr>
          <p:cNvPr id="14" name="Text 10"/>
          <p:cNvSpPr/>
          <p:nvPr/>
        </p:nvSpPr>
        <p:spPr>
          <a:xfrm>
            <a:off x="3039467" y="3598466"/>
            <a:ext cx="8297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Carlito" pitchFamily="34" charset="0"/>
                <a:ea typeface="Carlito" pitchFamily="34" charset="-122"/>
                <a:cs typeface="Carlito" pitchFamily="34" charset="-120"/>
              </a:rPr>
              <a:t>p₂ · OPEX₂</a:t>
            </a:r>
            <a:endParaRPr lang="en-US" sz="1200" dirty="0"/>
          </a:p>
        </p:txBody>
      </p:sp>
      <p:sp>
        <p:nvSpPr>
          <p:cNvPr id="15" name="Shape 11"/>
          <p:cNvSpPr/>
          <p:nvPr/>
        </p:nvSpPr>
        <p:spPr>
          <a:xfrm>
            <a:off x="4015284" y="3279775"/>
            <a:ext cx="994866" cy="840581"/>
          </a:xfrm>
          <a:prstGeom prst="roundRect">
            <a:avLst>
              <a:gd name="adj" fmla="val 8310"/>
            </a:avLst>
          </a:prstGeom>
          <a:solidFill>
            <a:srgbClr val="F1F6F6"/>
          </a:solidFill>
          <a:ln w="12700">
            <a:solidFill>
              <a:srgbClr val="CFE5E7"/>
            </a:solidFill>
            <a:prstDash val="solid"/>
          </a:ln>
        </p:spPr>
      </p:sp>
      <p:sp>
        <p:nvSpPr>
          <p:cNvPr id="16" name="Text 12"/>
          <p:cNvSpPr/>
          <p:nvPr/>
        </p:nvSpPr>
        <p:spPr>
          <a:xfrm>
            <a:off x="4123234" y="3375025"/>
            <a:ext cx="829766"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5606A"/>
                </a:solidFill>
                <a:latin typeface="Carlito" pitchFamily="34" charset="0"/>
                <a:ea typeface="Carlito" pitchFamily="34" charset="-122"/>
                <a:cs typeface="Carlito" pitchFamily="34" charset="-120"/>
              </a:rPr>
              <a:t>Scenario N</a:t>
            </a:r>
            <a:endParaRPr lang="en-US" sz="1300" dirty="0"/>
          </a:p>
        </p:txBody>
      </p:sp>
      <p:sp>
        <p:nvSpPr>
          <p:cNvPr id="17" name="Text 13"/>
          <p:cNvSpPr/>
          <p:nvPr/>
        </p:nvSpPr>
        <p:spPr>
          <a:xfrm>
            <a:off x="4123234" y="3598466"/>
            <a:ext cx="82976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Carlito" pitchFamily="34" charset="0"/>
                <a:ea typeface="Carlito" pitchFamily="34" charset="-122"/>
                <a:cs typeface="Carlito" pitchFamily="34" charset="-120"/>
              </a:rPr>
              <a:t>p_N · OPEX_N</a:t>
            </a:r>
            <a:endParaRPr lang="en-US" sz="1200" dirty="0"/>
          </a:p>
        </p:txBody>
      </p:sp>
      <p:sp>
        <p:nvSpPr>
          <p:cNvPr id="18" name="Text 14"/>
          <p:cNvSpPr/>
          <p:nvPr/>
        </p:nvSpPr>
        <p:spPr>
          <a:xfrm>
            <a:off x="1773436" y="4228306"/>
            <a:ext cx="3311128"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B6B70"/>
                </a:solidFill>
                <a:latin typeface="Carlito" pitchFamily="34" charset="0"/>
                <a:ea typeface="Carlito" pitchFamily="34" charset="-122"/>
                <a:cs typeface="Carlito" pitchFamily="34" charset="-120"/>
              </a:rPr>
              <a:t>e.g. weather years, fuel prices, H₂ availability</a:t>
            </a:r>
            <a:endParaRPr lang="en-US" sz="1200" dirty="0"/>
          </a:p>
        </p:txBody>
      </p:sp>
      <p:pic>
        <p:nvPicPr>
          <p:cNvPr id="19" name="Image 2" descr="Distribution of operating cost across scenarios with the expected value, the value-at-risk threshold and the conditional value-at-risk tail shaded">    </p:cNvPr>
          <p:cNvPicPr>
            <a:picLocks noChangeAspect="1"/>
          </p:cNvPicPr>
          <p:nvPr/>
        </p:nvPicPr>
        <p:blipFill>
          <a:blip r:embed="rId3"/>
          <a:srcRect l="0" r="0" t="0" b="0"/>
          <a:stretch/>
        </p:blipFill>
        <p:spPr>
          <a:xfrm>
            <a:off x="5524500" y="2153245"/>
            <a:ext cx="4826000" cy="2095500"/>
          </a:xfrm>
          <a:prstGeom prst="rect">
            <a:avLst/>
          </a:prstGeom>
        </p:spPr>
      </p:pic>
      <p:sp>
        <p:nvSpPr>
          <p:cNvPr id="20" name="Text 15"/>
          <p:cNvSpPr/>
          <p:nvPr/>
        </p:nvSpPr>
        <p:spPr>
          <a:xfrm>
            <a:off x="6489700" y="2051645"/>
            <a:ext cx="939800" cy="25648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05606A"/>
                </a:solidFill>
                <a:latin typeface="Carlito" pitchFamily="34" charset="0"/>
                <a:ea typeface="Carlito" pitchFamily="34" charset="-122"/>
                <a:cs typeface="Carlito" pitchFamily="34" charset="-120"/>
              </a:rPr>
              <a:t>E[OPEX]</a:t>
            </a:r>
            <a:endParaRPr lang="en-US" sz="1300" dirty="0"/>
          </a:p>
        </p:txBody>
      </p:sp>
      <p:sp>
        <p:nvSpPr>
          <p:cNvPr id="21" name="Text 16"/>
          <p:cNvSpPr/>
          <p:nvPr/>
        </p:nvSpPr>
        <p:spPr>
          <a:xfrm>
            <a:off x="7575550" y="2051645"/>
            <a:ext cx="812800" cy="25648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5B6B70"/>
                </a:solidFill>
                <a:latin typeface="Carlito" pitchFamily="34" charset="0"/>
                <a:ea typeface="Carlito" pitchFamily="34" charset="-122"/>
                <a:cs typeface="Carlito" pitchFamily="34" charset="-120"/>
              </a:rPr>
              <a:t>VaRα</a:t>
            </a:r>
            <a:endParaRPr lang="en-US" sz="1300" dirty="0"/>
          </a:p>
        </p:txBody>
      </p:sp>
      <p:sp>
        <p:nvSpPr>
          <p:cNvPr id="22" name="Text 17"/>
          <p:cNvSpPr/>
          <p:nvPr/>
        </p:nvSpPr>
        <p:spPr>
          <a:xfrm>
            <a:off x="8172450" y="2051645"/>
            <a:ext cx="812800" cy="25648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C46F00"/>
                </a:solidFill>
                <a:latin typeface="Carlito" pitchFamily="34" charset="0"/>
                <a:ea typeface="Carlito" pitchFamily="34" charset="-122"/>
                <a:cs typeface="Carlito" pitchFamily="34" charset="-120"/>
              </a:rPr>
              <a:t>CVaRα</a:t>
            </a:r>
            <a:endParaRPr lang="en-US" sz="1300" dirty="0"/>
          </a:p>
        </p:txBody>
      </p:sp>
      <p:sp>
        <p:nvSpPr>
          <p:cNvPr id="23" name="Text 18"/>
          <p:cNvSpPr/>
          <p:nvPr/>
        </p:nvSpPr>
        <p:spPr>
          <a:xfrm>
            <a:off x="8928100" y="3486745"/>
            <a:ext cx="1320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C46F00"/>
                </a:solidFill>
                <a:latin typeface="Carlito" pitchFamily="34" charset="0"/>
                <a:ea typeface="Carlito" pitchFamily="34" charset="-122"/>
                <a:cs typeface="Carlito" pitchFamily="34" charset="-120"/>
              </a:rPr>
              <a:t>worst 1 − α</a:t>
            </a:r>
            <a:endParaRPr lang="en-US" sz="1200" dirty="0"/>
          </a:p>
        </p:txBody>
      </p:sp>
      <p:sp>
        <p:nvSpPr>
          <p:cNvPr id="24" name="Text 19"/>
          <p:cNvSpPr/>
          <p:nvPr/>
        </p:nvSpPr>
        <p:spPr>
          <a:xfrm>
            <a:off x="5452110" y="4286845"/>
            <a:ext cx="497078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B6B70"/>
                </a:solidFill>
                <a:latin typeface="Carlito" pitchFamily="34" charset="0"/>
                <a:ea typeface="Carlito" pitchFamily="34" charset="-122"/>
                <a:cs typeface="Carlito" pitchFamily="34" charset="-120"/>
              </a:rPr>
              <a:t>operating cost across scenarios</a:t>
            </a:r>
            <a:endParaRPr lang="en-US" sz="1200" dirty="0"/>
          </a:p>
        </p:txBody>
      </p:sp>
      <p:sp>
        <p:nvSpPr>
          <p:cNvPr id="25" name="Text 20"/>
          <p:cNvSpPr/>
          <p:nvPr/>
        </p:nvSpPr>
        <p:spPr>
          <a:xfrm>
            <a:off x="3339703" y="4782145"/>
            <a:ext cx="5512495" cy="508000"/>
          </a:xfrm>
          <a:prstGeom prst="roundRect">
            <a:avLst>
              <a:gd name="adj" fmla="val 15000"/>
            </a:avLst>
          </a:prstGeom>
          <a:solidFill>
            <a:srgbClr val="F1F6F6"/>
          </a:solidFill>
          <a:ln/>
        </p:spPr>
        <p:txBody>
          <a:bodyPr wrap="none" lIns="0" tIns="0" rIns="0" bIns="0" rtlCol="0" anchor="ctr">
            <a:normAutofit/>
          </a:bodyPr>
          <a:lstStyle/>
          <a:p>
            <a:pPr algn="ctr" indent="0" marL="0">
              <a:lnSpc>
                <a:spcPts val="2400"/>
              </a:lnSpc>
              <a:buNone/>
            </a:pPr>
            <a:r>
              <a:rPr lang="en-US" sz="2000" dirty="0">
                <a:solidFill>
                  <a:srgbClr val="1A1A1A"/>
                </a:solidFill>
                <a:latin typeface="Carlito" pitchFamily="34" charset="0"/>
                <a:ea typeface="Carlito" pitchFamily="34" charset="-122"/>
                <a:cs typeface="Carlito" pitchFamily="34" charset="-120"/>
              </a:rPr>
              <a:t>min CAPEX + (1 − ω) · E[OPEX] + </a:t>
            </a:r>
            <a:r>
              <a:rPr lang="en-US" sz="2000" dirty="0">
                <a:solidFill>
                  <a:srgbClr val="C46F00"/>
                </a:solidFill>
                <a:latin typeface="Carlito" pitchFamily="34" charset="0"/>
                <a:ea typeface="Carlito" pitchFamily="34" charset="-122"/>
                <a:cs typeface="Carlito" pitchFamily="34" charset="-120"/>
              </a:rPr>
              <a:t>ω · CVaRα[OPEX]</a:t>
            </a:r>
            <a:endParaRPr lang="en-US" sz="2000" dirty="0"/>
          </a:p>
        </p:txBody>
      </p:sp>
      <p:sp>
        <p:nvSpPr>
          <p:cNvPr id="26" name="Text 21"/>
          <p:cNvSpPr/>
          <p:nvPr/>
        </p:nvSpPr>
        <p:spPr>
          <a:xfrm>
            <a:off x="3480326" y="5569545"/>
            <a:ext cx="5231249" cy="25648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05606A"/>
                </a:solidFill>
                <a:latin typeface="Courier New" pitchFamily="49" charset="0"/>
                <a:ea typeface="Courier New" pitchFamily="49" charset="-122"/>
                <a:cs typeface="Courier New" pitchFamily="49" charset="-120"/>
              </a:rPr>
              <a:t>n.set_risk_preference(alpha=0.95, omega=0.1)</a:t>
            </a:r>
            <a:endParaRPr lang="en-US" sz="1300" dirty="0"/>
          </a:p>
        </p:txBody>
      </p:sp>
      <p:sp>
        <p:nvSpPr>
          <p:cNvPr id="27" name="Text 22"/>
          <p:cNvSpPr/>
          <p:nvPr/>
        </p:nvSpPr>
        <p:spPr>
          <a:xfrm>
            <a:off x="762000" y="6365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Carlito" pitchFamily="34" charset="0"/>
                <a:ea typeface="Carlito" pitchFamily="34" charset="-122"/>
                <a:cs typeface="Carlito" pitchFamily="34" charset="-120"/>
              </a:rPr>
              <a:t>PyPSA pull requests #1154 (stochastic optimisation) and #1345 (CVaR) · RESILIENT</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3AAD5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ph type="title"/>
          </p:nvPr>
        </p:nvSpPr>
        <p:spPr>
          <a:xfrm>
            <a:off x="952500" y="2413000"/>
            <a:ext cx="5232400" cy="751780"/>
          </a:xfrm>
          <a:prstGeom prst="rect">
            <a:avLst/>
          </a:prstGeom>
          <a:noFill/>
          <a:ln/>
        </p:spPr>
        <p:txBody>
          <a:bodyPr wrap="square" lIns="0" tIns="0" rIns="0" bIns="0" rtlCol="0" anchor="t">
            <a:normAutofit/>
          </a:bodyPr>
          <a:lstStyle/>
          <a:p>
            <a:pPr algn="l" indent="0" marL="0">
              <a:lnSpc>
                <a:spcPts val="5720"/>
              </a:lnSpc>
              <a:buNone/>
            </a:pPr>
            <a:r>
              <a:rPr lang="en-US" sz="5200" b="1" i="0" dirty="0">
                <a:solidFill>
                  <a:srgbClr val="FFFFFF"/>
                </a:solidFill>
                <a:latin typeface="Carlito" pitchFamily="34" charset="0"/>
                <a:ea typeface="Carlito" pitchFamily="34" charset="-122"/>
                <a:cs typeface="Carlito" pitchFamily="34" charset="-120"/>
              </a:rPr>
              <a:t>Thank you!</a:t>
            </a:r>
            <a:endParaRPr lang="en-US" sz="5200" dirty="0"/>
          </a:p>
        </p:txBody>
      </p:sp>
      <p:sp>
        <p:nvSpPr>
          <p:cNvPr id="4" name="Text 1"/>
          <p:cNvSpPr/>
          <p:nvPr/>
        </p:nvSpPr>
        <p:spPr>
          <a:xfrm>
            <a:off x="952500" y="3403600"/>
            <a:ext cx="5232400"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FFFFFF"/>
                </a:solidFill>
                <a:latin typeface="Carlito" pitchFamily="34" charset="0"/>
                <a:ea typeface="Carlito" pitchFamily="34" charset="-122"/>
                <a:cs typeface="Carlito" pitchFamily="34" charset="-120"/>
              </a:rPr>
              <a:t>Contact</a:t>
            </a:r>
            <a:endParaRPr lang="en-US" sz="3200" dirty="0"/>
          </a:p>
        </p:txBody>
      </p:sp>
      <p:sp>
        <p:nvSpPr>
          <p:cNvPr id="5" name="Text 2"/>
          <p:cNvSpPr/>
          <p:nvPr/>
        </p:nvSpPr>
        <p:spPr>
          <a:xfrm>
            <a:off x="952500" y="4057650"/>
            <a:ext cx="588645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FFFFF"/>
                </a:solidFill>
                <a:latin typeface="Carlito" pitchFamily="34" charset="0"/>
                <a:ea typeface="Carlito" pitchFamily="34" charset="-122"/>
                <a:cs typeface="Carlito" pitchFamily="34" charset="-120"/>
              </a:rPr>
              <a:t>Dr Lukas Franken</a:t>
            </a:r>
            <a:endParaRPr lang="en-US" sz="1700" dirty="0"/>
          </a:p>
        </p:txBody>
      </p:sp>
      <p:sp>
        <p:nvSpPr>
          <p:cNvPr id="6" name="Text 3"/>
          <p:cNvSpPr/>
          <p:nvPr/>
        </p:nvSpPr>
        <p:spPr>
          <a:xfrm>
            <a:off x="952500" y="4359870"/>
            <a:ext cx="588645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FFFFF"/>
                </a:solidFill>
                <a:latin typeface="Carlito" pitchFamily="34" charset="0"/>
                <a:ea typeface="Carlito" pitchFamily="34" charset="-122"/>
                <a:cs typeface="Carlito" pitchFamily="34" charset="-120"/>
              </a:rPr>
              <a:t>TU Berlin</a:t>
            </a:r>
            <a:endParaRPr lang="en-US" sz="1700" dirty="0"/>
          </a:p>
        </p:txBody>
      </p:sp>
      <p:sp>
        <p:nvSpPr>
          <p:cNvPr id="7" name="Text 4"/>
          <p:cNvSpPr/>
          <p:nvPr/>
        </p:nvSpPr>
        <p:spPr>
          <a:xfrm>
            <a:off x="952500" y="4662091"/>
            <a:ext cx="588645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FFFFF"/>
                </a:solidFill>
                <a:latin typeface="Carlito" pitchFamily="34" charset="0"/>
                <a:ea typeface="Carlito" pitchFamily="34" charset="-122"/>
                <a:cs typeface="Carlito" pitchFamily="34" charset="-120"/>
              </a:rPr>
              <a:t>lukas.franken@tu-berlin.de</a:t>
            </a:r>
            <a:endParaRPr lang="en-US" sz="1700" dirty="0"/>
          </a:p>
        </p:txBody>
      </p:sp>
      <p:sp>
        <p:nvSpPr>
          <p:cNvPr id="8" name="Text 5"/>
          <p:cNvSpPr/>
          <p:nvPr/>
        </p:nvSpPr>
        <p:spPr>
          <a:xfrm>
            <a:off x="952500" y="4964311"/>
            <a:ext cx="5886450" cy="327620"/>
          </a:xfrm>
          <a:prstGeom prst="rect">
            <a:avLst/>
          </a:prstGeom>
          <a:noFill/>
          <a:ln/>
        </p:spPr>
        <p:txBody>
          <a:bodyPr wrap="square" lIns="0" tIns="0" rIns="0" bIns="0" rtlCol="0" anchor="t">
            <a:normAutofit/>
          </a:bodyPr>
          <a:lstStyle/>
          <a:p>
            <a:pPr algn="l" indent="0" marL="0">
              <a:lnSpc>
                <a:spcPts val="2380"/>
              </a:lnSpc>
              <a:buNone/>
            </a:pPr>
            <a:r>
              <a:rPr lang="en-US" sz="1700" u="sng" dirty="0">
                <a:solidFill>
                  <a:srgbClr val="FFFFFF"/>
                </a:solidFill>
                <a:latin typeface="Carlito" pitchFamily="34" charset="0"/>
                <a:ea typeface="Carlito" pitchFamily="34" charset="-122"/>
                <a:cs typeface="Carlito" pitchFamily="34" charset="-120"/>
                <a:hlinkClick r:id="rId2" invalidUrl="" action="" tgtFrame="" tooltip="" history="1" highlightClick="0" endSnd="0">
                  <a:extLst>
                    <a:ext uri="{A12FA001-AC4F-418D-AE19-62706E023703}">
                      <ahyp:hlinkClr xmlns:ahyp="http://schemas.microsoft.com/office/drawing/2018/hyperlinkcolor" val="tx"/>
                    </a:ext>
                  </a:extLst>
                </a:hlinkClick>
              </a:rPr>
              <a:t>resilient-project.github.io</a:t>
            </a:r>
            <a:endParaRPr lang="en-US" sz="1700" dirty="0"/>
          </a:p>
        </p:txBody>
      </p:sp>
    </p:spTree>
  </p:cSld>
  <p:clrMapOvr>
    <a:masterClrMapping/>
  </p:clrMapOvr>
</p:sld>
</file>

<file path=ppt/theme/theme1.xml><?xml version="1.0" encoding="utf-8"?>
<a:theme xmlns:a="http://schemas.openxmlformats.org/drawingml/2006/main" name="RESILIENT – CETP Annual Conference 2026">
  <a:themeElements>
    <a:clrScheme name="RESILIENT – CETP Annual Conference 2026">
      <a:dk1>
        <a:srgbClr val="141413"/>
      </a:dk1>
      <a:lt1>
        <a:srgbClr val="FFFFFF"/>
      </a:lt1>
      <a:dk2>
        <a:srgbClr val="4F4F4E"/>
      </a:dk2>
      <a:lt2>
        <a:srgbClr val="E8E8E7"/>
      </a:lt2>
      <a:accent1>
        <a:srgbClr val="058C98"/>
      </a:accent1>
      <a:accent2>
        <a:srgbClr val="05606A"/>
      </a:accent2>
      <a:accent3>
        <a:srgbClr val="C46F00"/>
      </a:accent3>
      <a:accent4>
        <a:srgbClr val="3AAD51"/>
      </a:accent4>
      <a:accent5>
        <a:srgbClr val="5B6B70"/>
      </a:accent5>
      <a:accent6>
        <a:srgbClr val="E3F1F2"/>
      </a:accent6>
      <a:hlink>
        <a:srgbClr val="0563C1"/>
      </a:hlink>
      <a:folHlink>
        <a:srgbClr val="954F72"/>
      </a:folHlink>
    </a:clrScheme>
    <a:fontScheme name="RESILIENT – CETP Annual Conference 2026">
      <a:majorFont>
        <a:latin typeface="Carli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rli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RESILIENT – CETP Annual Conference 2026</dc:title>
  <dc:subject/>
  <dc:creator/>
  <cp:lastModifiedBy/>
  <cp:revision>1</cp:revision>
  <dcterms:created xsi:type="dcterms:W3CDTF">2026-10-16T20:02:04Z</dcterms:created>
  <dcterms:modified xsi:type="dcterms:W3CDTF">2026-10-16T20:02:04Z</dcterms:modified>
</cp:coreProperties>
</file>